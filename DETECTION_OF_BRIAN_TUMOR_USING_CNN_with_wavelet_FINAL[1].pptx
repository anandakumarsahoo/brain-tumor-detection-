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87" r:id="rId4"/>
    <p:sldId id="288" r:id="rId5"/>
    <p:sldId id="289" r:id="rId6"/>
    <p:sldId id="290" r:id="rId7"/>
    <p:sldId id="259" r:id="rId8"/>
    <p:sldId id="258" r:id="rId9"/>
    <p:sldId id="279" r:id="rId10"/>
    <p:sldId id="280" r:id="rId11"/>
    <p:sldId id="281" r:id="rId12"/>
    <p:sldId id="277" r:id="rId13"/>
    <p:sldId id="282" r:id="rId14"/>
    <p:sldId id="291" r:id="rId15"/>
    <p:sldId id="292" r:id="rId16"/>
    <p:sldId id="293" r:id="rId17"/>
    <p:sldId id="294" r:id="rId18"/>
    <p:sldId id="295" r:id="rId19"/>
    <p:sldId id="296" r:id="rId20"/>
    <p:sldId id="297" r:id="rId21"/>
    <p:sldId id="298" r:id="rId22"/>
    <p:sldId id="299" r:id="rId23"/>
    <p:sldId id="261" r:id="rId24"/>
    <p:sldId id="262" r:id="rId25"/>
    <p:sldId id="269" r:id="rId26"/>
    <p:sldId id="268" r:id="rId27"/>
    <p:sldId id="263" r:id="rId28"/>
    <p:sldId id="300" r:id="rId29"/>
    <p:sldId id="303" r:id="rId30"/>
    <p:sldId id="301" r:id="rId31"/>
    <p:sldId id="265" r:id="rId32"/>
    <p:sldId id="302" r:id="rId33"/>
    <p:sldId id="26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59" d="100"/>
          <a:sy n="59" d="100"/>
        </p:scale>
        <p:origin x="10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5/8/2025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5/8/2025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5/8/2025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5/8/2025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5/8/2025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5/8/2025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5/8/2025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5/8/2025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87F2021-AB1B-A0C6-C152-AF311E04DD44}"/>
              </a:ext>
            </a:extLst>
          </p:cNvPr>
          <p:cNvSpPr txBox="1"/>
          <p:nvPr/>
        </p:nvSpPr>
        <p:spPr>
          <a:xfrm>
            <a:off x="7382975" y="3012401"/>
            <a:ext cx="3859504" cy="954107"/>
          </a:xfrm>
          <a:prstGeom prst="rect">
            <a:avLst/>
          </a:prstGeom>
          <a:noFill/>
        </p:spPr>
        <p:txBody>
          <a:bodyPr wrap="square">
            <a:spAutoFit/>
          </a:bodyPr>
          <a:lstStyle/>
          <a:p>
            <a:pPr algn="ctr"/>
            <a:endParaRPr lang="en-US" dirty="0">
              <a:solidFill>
                <a:srgbClr val="002060"/>
              </a:solidFill>
              <a:latin typeface="Times New Roman" panose="02020603050405020304" pitchFamily="18" charset="0"/>
              <a:cs typeface="Times New Roman" panose="02020603050405020304" pitchFamily="18" charset="0"/>
            </a:endParaRPr>
          </a:p>
          <a:p>
            <a:pPr algn="ctr"/>
            <a:r>
              <a:rPr lang="en-US" b="1" u="sng" dirty="0">
                <a:solidFill>
                  <a:srgbClr val="002060"/>
                </a:solidFill>
                <a:latin typeface="Times New Roman" panose="02020603050405020304" pitchFamily="18" charset="0"/>
                <a:cs typeface="Times New Roman" panose="02020603050405020304" pitchFamily="18" charset="0"/>
              </a:rPr>
              <a:t>SUPERVISOR:</a:t>
            </a:r>
            <a:endParaRPr lang="en-IN" dirty="0">
              <a:solidFill>
                <a:srgbClr val="002060"/>
              </a:solidFill>
              <a:latin typeface="Times New Roman" panose="02020603050405020304" pitchFamily="18" charset="0"/>
              <a:cs typeface="Times New Roman" panose="02020603050405020304" pitchFamily="18" charset="0"/>
            </a:endParaRPr>
          </a:p>
          <a:p>
            <a:pPr algn="ctr"/>
            <a:r>
              <a:rPr lang="en-IN" sz="2000" dirty="0">
                <a:solidFill>
                  <a:srgbClr val="002060"/>
                </a:solidFill>
                <a:latin typeface="Times New Roman" panose="02020603050405020304" pitchFamily="18" charset="0"/>
                <a:cs typeface="Times New Roman" panose="02020603050405020304" pitchFamily="18" charset="0"/>
              </a:rPr>
              <a:t>Dr. </a:t>
            </a:r>
            <a:r>
              <a:rPr lang="en-IN" sz="2000" dirty="0" err="1">
                <a:solidFill>
                  <a:srgbClr val="002060"/>
                </a:solidFill>
                <a:latin typeface="Times New Roman" panose="02020603050405020304" pitchFamily="18" charset="0"/>
                <a:cs typeface="Times New Roman" panose="02020603050405020304" pitchFamily="18" charset="0"/>
              </a:rPr>
              <a:t>Dillip</a:t>
            </a:r>
            <a:r>
              <a:rPr lang="en-IN" sz="2000" dirty="0">
                <a:solidFill>
                  <a:srgbClr val="002060"/>
                </a:solidFill>
                <a:latin typeface="Times New Roman" panose="02020603050405020304" pitchFamily="18" charset="0"/>
                <a:cs typeface="Times New Roman" panose="02020603050405020304" pitchFamily="18" charset="0"/>
              </a:rPr>
              <a:t> Ranjan Nayak </a:t>
            </a:r>
          </a:p>
        </p:txBody>
      </p:sp>
      <p:pic>
        <p:nvPicPr>
          <p:cNvPr id="8" name="Picture 7">
            <a:extLst>
              <a:ext uri="{FF2B5EF4-FFF2-40B4-BE49-F238E27FC236}">
                <a16:creationId xmlns:a16="http://schemas.microsoft.com/office/drawing/2014/main" id="{AB17D30E-BF36-45B1-48CF-5C73B248352F}"/>
              </a:ext>
            </a:extLst>
          </p:cNvPr>
          <p:cNvPicPr>
            <a:picLocks noChangeAspect="1"/>
          </p:cNvPicPr>
          <p:nvPr/>
        </p:nvPicPr>
        <p:blipFill>
          <a:blip r:embed="rId2"/>
          <a:stretch>
            <a:fillRect/>
          </a:stretch>
        </p:blipFill>
        <p:spPr>
          <a:xfrm>
            <a:off x="5239260" y="1988655"/>
            <a:ext cx="2050933" cy="1367289"/>
          </a:xfrm>
          <a:prstGeom prst="rect">
            <a:avLst/>
          </a:prstGeom>
        </p:spPr>
      </p:pic>
      <p:sp>
        <p:nvSpPr>
          <p:cNvPr id="10" name="TextBox 9">
            <a:extLst>
              <a:ext uri="{FF2B5EF4-FFF2-40B4-BE49-F238E27FC236}">
                <a16:creationId xmlns:a16="http://schemas.microsoft.com/office/drawing/2014/main" id="{A5FDE996-D607-E5AE-21B1-168E611FAD1B}"/>
              </a:ext>
            </a:extLst>
          </p:cNvPr>
          <p:cNvSpPr txBox="1"/>
          <p:nvPr/>
        </p:nvSpPr>
        <p:spPr>
          <a:xfrm>
            <a:off x="2122529" y="4888269"/>
            <a:ext cx="8284394" cy="461665"/>
          </a:xfrm>
          <a:prstGeom prst="rect">
            <a:avLst/>
          </a:prstGeom>
          <a:noFill/>
        </p:spPr>
        <p:txBody>
          <a:bodyPr wrap="square">
            <a:spAutoFit/>
          </a:bodyPr>
          <a:lstStyle/>
          <a:p>
            <a:r>
              <a:rPr lang="en-IN" sz="2400" dirty="0">
                <a:solidFill>
                  <a:srgbClr val="002060"/>
                </a:solidFill>
                <a:latin typeface="Times New Roman" panose="02020603050405020304" pitchFamily="18" charset="0"/>
                <a:cs typeface="Times New Roman" panose="02020603050405020304" pitchFamily="18" charset="0"/>
              </a:rPr>
              <a:t>Government College Of Engineering Kalahandi, </a:t>
            </a:r>
            <a:r>
              <a:rPr lang="en-US" sz="2400" dirty="0" err="1">
                <a:solidFill>
                  <a:srgbClr val="002060"/>
                </a:solidFill>
                <a:latin typeface="Times New Roman" panose="02020603050405020304" pitchFamily="18" charset="0"/>
                <a:cs typeface="Times New Roman" panose="02020603050405020304" pitchFamily="18" charset="0"/>
              </a:rPr>
              <a:t>Bhawanipatna</a:t>
            </a:r>
            <a:r>
              <a:rPr lang="en-US" sz="2400" dirty="0">
                <a:solidFill>
                  <a:srgbClr val="002060"/>
                </a:solidFill>
                <a:latin typeface="Times New Roman" panose="02020603050405020304" pitchFamily="18" charset="0"/>
                <a:cs typeface="Times New Roman" panose="02020603050405020304" pitchFamily="18" charset="0"/>
              </a:rPr>
              <a:t> </a:t>
            </a:r>
            <a:endParaRPr lang="en-IN" sz="240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0062AE8-9D1D-BFB8-4512-BECD167024EC}"/>
              </a:ext>
            </a:extLst>
          </p:cNvPr>
          <p:cNvSpPr txBox="1"/>
          <p:nvPr/>
        </p:nvSpPr>
        <p:spPr>
          <a:xfrm>
            <a:off x="2037960" y="1279820"/>
            <a:ext cx="8453535" cy="446276"/>
          </a:xfrm>
          <a:prstGeom prst="rect">
            <a:avLst/>
          </a:prstGeom>
          <a:noFill/>
        </p:spPr>
        <p:txBody>
          <a:bodyPr wrap="square">
            <a:spAutoFit/>
          </a:bodyPr>
          <a:lstStyle/>
          <a:p>
            <a:pPr algn="just"/>
            <a:r>
              <a:rPr lang="en-US" sz="2200" b="1" dirty="0">
                <a:solidFill>
                  <a:srgbClr val="002060"/>
                </a:solidFill>
                <a:latin typeface="Times New Roman" panose="02020603050405020304" pitchFamily="18" charset="0"/>
                <a:cs typeface="Times New Roman" panose="02020603050405020304" pitchFamily="18" charset="0"/>
              </a:rPr>
              <a:t>DETECTION OF BRAIN </a:t>
            </a:r>
            <a:r>
              <a:rPr lang="en-US" sz="2300" b="1" dirty="0">
                <a:solidFill>
                  <a:srgbClr val="002060"/>
                </a:solidFill>
                <a:latin typeface="Times New Roman" panose="02020603050405020304" pitchFamily="18" charset="0"/>
                <a:cs typeface="Times New Roman" panose="02020603050405020304" pitchFamily="18" charset="0"/>
              </a:rPr>
              <a:t>TUMOR</a:t>
            </a:r>
            <a:r>
              <a:rPr lang="en-US" sz="2200" b="1" dirty="0">
                <a:solidFill>
                  <a:srgbClr val="002060"/>
                </a:solidFill>
                <a:latin typeface="Times New Roman" panose="02020603050405020304" pitchFamily="18" charset="0"/>
                <a:cs typeface="Times New Roman" panose="02020603050405020304" pitchFamily="18" charset="0"/>
              </a:rPr>
              <a:t>  USING CNN WITH WAVELET</a:t>
            </a:r>
            <a:endParaRPr lang="en-IN" sz="2200" b="1"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83420A5-E234-9AB7-F612-B0C9DB7BEA2D}"/>
              </a:ext>
            </a:extLst>
          </p:cNvPr>
          <p:cNvSpPr txBox="1"/>
          <p:nvPr/>
        </p:nvSpPr>
        <p:spPr>
          <a:xfrm>
            <a:off x="5310414" y="5393514"/>
            <a:ext cx="3383280" cy="369332"/>
          </a:xfrm>
          <a:prstGeom prst="rect">
            <a:avLst/>
          </a:prstGeom>
          <a:noFill/>
        </p:spPr>
        <p:txBody>
          <a:bodyPr wrap="square" rtlCol="0">
            <a:spAutoFit/>
          </a:bodyPr>
          <a:lstStyle/>
          <a:p>
            <a:r>
              <a:rPr lang="en-US" dirty="0">
                <a:solidFill>
                  <a:srgbClr val="002060"/>
                </a:solidFill>
                <a:latin typeface="Times New Roman" panose="02020603050405020304" pitchFamily="18" charset="0"/>
                <a:cs typeface="Times New Roman" panose="02020603050405020304" pitchFamily="18" charset="0"/>
              </a:rPr>
              <a:t>Date- 08/05/2025</a:t>
            </a:r>
            <a:endParaRPr lang="en-IN" dirty="0">
              <a:solidFill>
                <a:srgbClr val="00206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07CE53E-699C-F0D1-D2F4-22F11D4FC146}"/>
              </a:ext>
            </a:extLst>
          </p:cNvPr>
          <p:cNvSpPr txBox="1"/>
          <p:nvPr/>
        </p:nvSpPr>
        <p:spPr>
          <a:xfrm>
            <a:off x="1727200" y="3163082"/>
            <a:ext cx="3583214" cy="2031325"/>
          </a:xfrm>
          <a:prstGeom prst="rect">
            <a:avLst/>
          </a:prstGeom>
          <a:noFill/>
        </p:spPr>
        <p:txBody>
          <a:bodyPr wrap="square" rtlCol="0">
            <a:spAutoFit/>
          </a:bodyPr>
          <a:lstStyle/>
          <a:p>
            <a:pPr algn="ctr"/>
            <a:r>
              <a:rPr lang="en-US" dirty="0">
                <a:solidFill>
                  <a:srgbClr val="002060"/>
                </a:solidFill>
                <a:latin typeface="Times New Roman" panose="02020603050405020304" pitchFamily="18" charset="0"/>
                <a:cs typeface="Times New Roman" panose="02020603050405020304" pitchFamily="18" charset="0"/>
              </a:rPr>
              <a:t> </a:t>
            </a:r>
            <a:r>
              <a:rPr lang="en-US" b="1" u="sng" dirty="0">
                <a:solidFill>
                  <a:srgbClr val="002060"/>
                </a:solidFill>
                <a:latin typeface="Times New Roman" panose="02020603050405020304" pitchFamily="18" charset="0"/>
                <a:cs typeface="Times New Roman" panose="02020603050405020304" pitchFamily="18" charset="0"/>
              </a:rPr>
              <a:t>MEMBERS:</a:t>
            </a:r>
          </a:p>
          <a:p>
            <a:pPr algn="ctr"/>
            <a:r>
              <a:rPr lang="en-US" dirty="0">
                <a:solidFill>
                  <a:srgbClr val="002060"/>
                </a:solidFill>
                <a:latin typeface="Times New Roman" panose="02020603050405020304" pitchFamily="18" charset="0"/>
                <a:cs typeface="Times New Roman" panose="02020603050405020304" pitchFamily="18" charset="0"/>
              </a:rPr>
              <a:t>Anand Kumar Sahoo(2101110028)</a:t>
            </a:r>
          </a:p>
          <a:p>
            <a:pPr algn="ctr"/>
            <a:r>
              <a:rPr lang="en-US" dirty="0" err="1">
                <a:solidFill>
                  <a:srgbClr val="002060"/>
                </a:solidFill>
                <a:latin typeface="Times New Roman" panose="02020603050405020304" pitchFamily="18" charset="0"/>
                <a:cs typeface="Times New Roman" panose="02020603050405020304" pitchFamily="18" charset="0"/>
              </a:rPr>
              <a:t>Aswojit</a:t>
            </a:r>
            <a:r>
              <a:rPr lang="en-US" dirty="0">
                <a:solidFill>
                  <a:srgbClr val="002060"/>
                </a:solidFill>
                <a:latin typeface="Times New Roman" panose="02020603050405020304" pitchFamily="18" charset="0"/>
                <a:cs typeface="Times New Roman" panose="02020603050405020304" pitchFamily="18" charset="0"/>
              </a:rPr>
              <a:t>  Samal(2101110036)</a:t>
            </a:r>
          </a:p>
          <a:p>
            <a:pPr algn="ctr"/>
            <a:r>
              <a:rPr lang="en-US" dirty="0">
                <a:solidFill>
                  <a:srgbClr val="002060"/>
                </a:solidFill>
                <a:latin typeface="Times New Roman" panose="02020603050405020304" pitchFamily="18" charset="0"/>
                <a:cs typeface="Times New Roman" panose="02020603050405020304" pitchFamily="18" charset="0"/>
              </a:rPr>
              <a:t>Swati Nath(2101110119)</a:t>
            </a:r>
          </a:p>
          <a:p>
            <a:pPr algn="ctr"/>
            <a:r>
              <a:rPr lang="en-US" dirty="0">
                <a:solidFill>
                  <a:srgbClr val="002060"/>
                </a:solidFill>
                <a:latin typeface="Times New Roman" panose="02020603050405020304" pitchFamily="18" charset="0"/>
                <a:cs typeface="Times New Roman" panose="02020603050405020304" pitchFamily="18" charset="0"/>
              </a:rPr>
              <a:t>Ananya Rani Panda(2221110002)</a:t>
            </a:r>
          </a:p>
          <a:p>
            <a:pPr algn="ct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4522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3EC2EC-94FA-0277-9A44-4A7E85688B5F}"/>
              </a:ext>
            </a:extLst>
          </p:cNvPr>
          <p:cNvSpPr txBox="1"/>
          <p:nvPr/>
        </p:nvSpPr>
        <p:spPr>
          <a:xfrm>
            <a:off x="1382485" y="675306"/>
            <a:ext cx="6096000" cy="707886"/>
          </a:xfrm>
          <a:prstGeom prst="rect">
            <a:avLst/>
          </a:prstGeom>
          <a:noFill/>
        </p:spPr>
        <p:txBody>
          <a:bodyPr wrap="square">
            <a:spAutoFit/>
          </a:bodyPr>
          <a:lstStyle/>
          <a:p>
            <a:pPr marL="571500" indent="-571500">
              <a:buFont typeface="Wingdings" panose="05000000000000000000" pitchFamily="2" charset="2"/>
              <a:buChar char="q"/>
            </a:pPr>
            <a:r>
              <a:rPr lang="en-US" sz="4000" b="1" u="sng" dirty="0">
                <a:solidFill>
                  <a:srgbClr val="002060"/>
                </a:solidFill>
                <a:latin typeface="Times New Roman" panose="02020603050405020304" pitchFamily="18" charset="0"/>
                <a:ea typeface="Arial Regular" pitchFamily="34" charset="-122"/>
                <a:cs typeface="Times New Roman" panose="02020603050405020304" pitchFamily="18" charset="0"/>
              </a:rPr>
              <a:t>CONTENTS</a:t>
            </a:r>
            <a:endParaRPr lang="en-IN" sz="4000" b="1" u="sng"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1B2F337-F293-1270-CE22-15988829F7BB}"/>
              </a:ext>
            </a:extLst>
          </p:cNvPr>
          <p:cNvSpPr txBox="1"/>
          <p:nvPr/>
        </p:nvSpPr>
        <p:spPr>
          <a:xfrm>
            <a:off x="2195284" y="1570785"/>
            <a:ext cx="8137435" cy="5816977"/>
          </a:xfrm>
          <a:prstGeom prst="rect">
            <a:avLst/>
          </a:prstGeom>
          <a:noFill/>
        </p:spPr>
        <p:txBody>
          <a:bodyPr wrap="square">
            <a:spAutoFit/>
          </a:bodyPr>
          <a:lstStyle/>
          <a:p>
            <a:pPr marL="457200" indent="-4572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INTRODUCTION</a:t>
            </a:r>
          </a:p>
          <a:p>
            <a:pPr marL="457200" indent="-4572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MOTIVATION</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RECENT WORK</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CHALLENGES</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OBJECTIVE </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OVERVIEW</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METHODOLOGY</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WORKFLOW</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RESULT ANALYSIS</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CONCLUSION</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FUTURE SCOPE</a:t>
            </a: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  REFERENCES </a:t>
            </a:r>
          </a:p>
          <a:p>
            <a:pPr algn="just"/>
            <a:endParaRPr lang="en-US" sz="2800" b="1"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sz="2800" b="1"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sz="2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093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886EB-005B-6B1C-7A55-4C2C61555FEA}"/>
              </a:ext>
            </a:extLst>
          </p:cNvPr>
          <p:cNvSpPr>
            <a:spLocks noGrp="1"/>
          </p:cNvSpPr>
          <p:nvPr>
            <p:ph type="title"/>
          </p:nvPr>
        </p:nvSpPr>
        <p:spPr>
          <a:xfrm>
            <a:off x="1371600" y="685800"/>
            <a:ext cx="9235440" cy="767080"/>
          </a:xfrm>
        </p:spPr>
        <p:txBody>
          <a:bodyPr/>
          <a:lstStyle/>
          <a:p>
            <a:pPr marL="571500" indent="-571500">
              <a:buFont typeface="Wingdings" panose="05000000000000000000" pitchFamily="2" charset="2"/>
              <a:buChar char="q"/>
            </a:pPr>
            <a:r>
              <a:rPr lang="en-US" b="1" u="sng" dirty="0">
                <a:solidFill>
                  <a:srgbClr val="002060"/>
                </a:solidFill>
                <a:latin typeface="Times New Roman" panose="02020603050405020304" pitchFamily="18" charset="0"/>
                <a:cs typeface="Times New Roman" panose="02020603050405020304" pitchFamily="18" charset="0"/>
              </a:rPr>
              <a:t>INTRODUCTION</a:t>
            </a:r>
            <a:r>
              <a:rPr lang="en-US" dirty="0"/>
              <a:t> </a:t>
            </a:r>
            <a:endParaRPr lang="en-IN" dirty="0"/>
          </a:p>
        </p:txBody>
      </p:sp>
      <p:sp>
        <p:nvSpPr>
          <p:cNvPr id="3" name="TextBox 2">
            <a:extLst>
              <a:ext uri="{FF2B5EF4-FFF2-40B4-BE49-F238E27FC236}">
                <a16:creationId xmlns:a16="http://schemas.microsoft.com/office/drawing/2014/main" id="{D19629F2-DCF0-D9F2-3883-8C75799DA90A}"/>
              </a:ext>
            </a:extLst>
          </p:cNvPr>
          <p:cNvSpPr txBox="1"/>
          <p:nvPr/>
        </p:nvSpPr>
        <p:spPr>
          <a:xfrm>
            <a:off x="1158240" y="1849120"/>
            <a:ext cx="10810240" cy="2677656"/>
          </a:xfrm>
          <a:prstGeom prst="rect">
            <a:avLst/>
          </a:prstGeom>
          <a:noFill/>
        </p:spPr>
        <p:txBody>
          <a:bodyPr wrap="square" rtlCol="0">
            <a:spAutoFit/>
          </a:bodyPr>
          <a:lstStyle/>
          <a:p>
            <a:pPr marL="285750" indent="-28575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In the field of Medical Image Analysis, research on Brain tumors is one of the most prominent areas.</a:t>
            </a:r>
          </a:p>
          <a:p>
            <a:pPr marL="285750" indent="-28575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Primary brain tumors affect in around 250,000 people a year globally, making up less than 2% of cancers.</a:t>
            </a:r>
          </a:p>
          <a:p>
            <a:pPr marL="285750" indent="-28575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Tumor segmentation is one of the most difficult task in medical image </a:t>
            </a:r>
            <a:r>
              <a:rPr lang="en-IN" sz="2400" dirty="0">
                <a:solidFill>
                  <a:srgbClr val="002060"/>
                </a:solidFill>
                <a:latin typeface="Times New Roman" panose="02020603050405020304" pitchFamily="18" charset="0"/>
                <a:cs typeface="Times New Roman" panose="02020603050405020304" pitchFamily="18" charset="0"/>
              </a:rPr>
              <a:t>analysis.</a:t>
            </a:r>
            <a:endParaRPr lang="en-US" sz="2400" dirty="0">
              <a:solidFill>
                <a:srgbClr val="00206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Classification of the tumor as tumorous or non-tumorous is a primary task in this domain.</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640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A882-D37E-6037-E082-B45E3775965A}"/>
              </a:ext>
            </a:extLst>
          </p:cNvPr>
          <p:cNvSpPr>
            <a:spLocks noGrp="1"/>
          </p:cNvSpPr>
          <p:nvPr>
            <p:ph type="title"/>
          </p:nvPr>
        </p:nvSpPr>
        <p:spPr/>
        <p:txBody>
          <a:bodyPr/>
          <a:lstStyle/>
          <a:p>
            <a:pPr marL="571500" indent="-571500">
              <a:buFont typeface="Wingdings" panose="05000000000000000000" pitchFamily="2" charset="2"/>
              <a:buChar char="q"/>
            </a:pPr>
            <a:r>
              <a:rPr lang="en-US" b="1" u="sng" dirty="0">
                <a:solidFill>
                  <a:srgbClr val="002060"/>
                </a:solidFill>
                <a:latin typeface="Times New Roman" panose="02020603050405020304" pitchFamily="18" charset="0"/>
                <a:cs typeface="Times New Roman" panose="02020603050405020304" pitchFamily="18" charset="0"/>
              </a:rPr>
              <a:t>MOTIVATION</a:t>
            </a:r>
            <a:r>
              <a:rPr lang="en-US" dirty="0"/>
              <a:t> </a:t>
            </a:r>
            <a:br>
              <a:rPr lang="en-US" dirty="0">
                <a:solidFill>
                  <a:srgbClr val="002060"/>
                </a:solidFill>
              </a:rPr>
            </a:br>
            <a:endParaRPr lang="en-IN" dirty="0"/>
          </a:p>
        </p:txBody>
      </p:sp>
      <p:sp>
        <p:nvSpPr>
          <p:cNvPr id="3" name="TextBox 2">
            <a:extLst>
              <a:ext uri="{FF2B5EF4-FFF2-40B4-BE49-F238E27FC236}">
                <a16:creationId xmlns:a16="http://schemas.microsoft.com/office/drawing/2014/main" id="{333DF3BB-3B46-189E-44FC-9829BD093427}"/>
              </a:ext>
            </a:extLst>
          </p:cNvPr>
          <p:cNvSpPr txBox="1"/>
          <p:nvPr/>
        </p:nvSpPr>
        <p:spPr>
          <a:xfrm>
            <a:off x="1561254" y="1639313"/>
            <a:ext cx="9814560" cy="3046988"/>
          </a:xfrm>
          <a:prstGeom prst="rect">
            <a:avLst/>
          </a:prstGeom>
          <a:noFill/>
        </p:spPr>
        <p:txBody>
          <a:bodyPr wrap="square" rtlCol="0">
            <a:spAutoFit/>
          </a:bodyPr>
          <a:lstStyle/>
          <a:p>
            <a:pPr marL="342900" indent="-34290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Well  adaptation of automated medical image analysis in the perspective of Nation’s medical sector.</a:t>
            </a:r>
          </a:p>
          <a:p>
            <a:pPr marL="342900" indent="-34290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Early detection of Brain Tumors  Reducing the pressure on Human judgement.</a:t>
            </a:r>
          </a:p>
          <a:p>
            <a:pPr marL="342900" indent="-34290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Build a User Interface which can identify the cancerous cells.</a:t>
            </a:r>
          </a:p>
          <a:p>
            <a:pPr marL="342900" indent="-34290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Reducing the death rate by early detection.</a:t>
            </a:r>
          </a:p>
          <a:p>
            <a:pPr marL="342900" indent="-342900">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Supporting faster communication, where patient care can be extended to remote areas.</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1709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53465-2DE3-3CBA-A3B2-BBD2E4BDF339}"/>
              </a:ext>
            </a:extLst>
          </p:cNvPr>
          <p:cNvSpPr>
            <a:spLocks noGrp="1"/>
          </p:cNvSpPr>
          <p:nvPr>
            <p:ph type="title"/>
          </p:nvPr>
        </p:nvSpPr>
        <p:spPr>
          <a:xfrm>
            <a:off x="1371600" y="685800"/>
            <a:ext cx="9601200" cy="728133"/>
          </a:xfrm>
        </p:spPr>
        <p:txBody>
          <a:bodyPr/>
          <a:lstStyle/>
          <a:p>
            <a:pPr marL="571500" indent="-571500">
              <a:buFont typeface="Wingdings" panose="05000000000000000000" pitchFamily="2" charset="2"/>
              <a:buChar char="q"/>
            </a:pPr>
            <a:r>
              <a:rPr lang="en-US" b="1" u="sng" dirty="0">
                <a:solidFill>
                  <a:srgbClr val="002060"/>
                </a:solidFill>
                <a:latin typeface="Times New Roman" panose="02020603050405020304" pitchFamily="18" charset="0"/>
                <a:cs typeface="Times New Roman" panose="02020603050405020304" pitchFamily="18" charset="0"/>
              </a:rPr>
              <a:t>RECENT WORKS</a:t>
            </a:r>
            <a:endParaRPr lang="en-IN" b="1" u="sng"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2C2B3A2-CF94-0C52-BC82-15EAD58A7CA4}"/>
              </a:ext>
            </a:extLst>
          </p:cNvPr>
          <p:cNvSpPr txBox="1"/>
          <p:nvPr/>
        </p:nvSpPr>
        <p:spPr>
          <a:xfrm>
            <a:off x="1507066" y="1423264"/>
            <a:ext cx="10037234" cy="5724644"/>
          </a:xfrm>
          <a:prstGeom prst="rect">
            <a:avLst/>
          </a:prstGeom>
          <a:noFill/>
        </p:spPr>
        <p:txBody>
          <a:bodyPr wrap="square" rtlCol="0">
            <a:spAutoFit/>
          </a:bodyPr>
          <a:lstStyle/>
          <a:p>
            <a:pPr marL="285750" indent="-285750">
              <a:buFont typeface="Wingdings" panose="05000000000000000000" pitchFamily="2" charset="2"/>
              <a:buChar char="v"/>
            </a:pPr>
            <a:r>
              <a:rPr lang="en-IN" sz="2200" b="1" dirty="0">
                <a:solidFill>
                  <a:srgbClr val="002060"/>
                </a:solidFill>
                <a:latin typeface="Times New Roman" panose="02020603050405020304" pitchFamily="18" charset="0"/>
                <a:cs typeface="Times New Roman" panose="02020603050405020304" pitchFamily="18" charset="0"/>
              </a:rPr>
              <a:t>Agrawal et al. (2024): </a:t>
            </a:r>
            <a:r>
              <a:rPr lang="en-IN" sz="2200" dirty="0">
                <a:solidFill>
                  <a:srgbClr val="002060"/>
                </a:solidFill>
                <a:latin typeface="Times New Roman" panose="02020603050405020304" pitchFamily="18" charset="0"/>
                <a:cs typeface="Times New Roman" panose="02020603050405020304" pitchFamily="18" charset="0"/>
              </a:rPr>
              <a:t>Introduced a Wavelet-based CNN (</a:t>
            </a:r>
            <a:r>
              <a:rPr lang="en-IN" sz="2200" dirty="0" err="1">
                <a:solidFill>
                  <a:srgbClr val="002060"/>
                </a:solidFill>
                <a:latin typeface="Times New Roman" panose="02020603050405020304" pitchFamily="18" charset="0"/>
                <a:cs typeface="Times New Roman" panose="02020603050405020304" pitchFamily="18" charset="0"/>
              </a:rPr>
              <a:t>wCNN</a:t>
            </a:r>
            <a:r>
              <a:rPr lang="en-IN" sz="2200" dirty="0">
                <a:solidFill>
                  <a:srgbClr val="002060"/>
                </a:solidFill>
                <a:latin typeface="Times New Roman" panose="02020603050405020304" pitchFamily="18" charset="0"/>
                <a:cs typeface="Times New Roman" panose="02020603050405020304" pitchFamily="18" charset="0"/>
              </a:rPr>
              <a:t>) model utilizing the BRATS 2023 dataset, achieving an accuracy of 96.69%.  </a:t>
            </a:r>
          </a:p>
          <a:p>
            <a:pPr marL="285750" indent="-285750">
              <a:buFont typeface="Wingdings" panose="05000000000000000000" pitchFamily="2" charset="2"/>
              <a:buChar char="v"/>
            </a:pPr>
            <a:r>
              <a:rPr lang="en-IN" sz="2200" b="1" dirty="0">
                <a:solidFill>
                  <a:srgbClr val="002060"/>
                </a:solidFill>
                <a:latin typeface="Times New Roman" panose="02020603050405020304" pitchFamily="18" charset="0"/>
                <a:cs typeface="Times New Roman" panose="02020603050405020304" pitchFamily="18" charset="0"/>
              </a:rPr>
              <a:t>Enhanced CNN Approach (2024): </a:t>
            </a:r>
            <a:r>
              <a:rPr lang="en-IN" sz="2200" dirty="0">
                <a:solidFill>
                  <a:srgbClr val="002060"/>
                </a:solidFill>
                <a:latin typeface="Times New Roman" panose="02020603050405020304" pitchFamily="18" charset="0"/>
                <a:cs typeface="Times New Roman" panose="02020603050405020304" pitchFamily="18" charset="0"/>
              </a:rPr>
              <a:t>Combined Discrete Wavelet Transform (DWT) with an improved CNN architecture, resulting in an accuracy of 98.9%.  </a:t>
            </a:r>
          </a:p>
          <a:p>
            <a:pPr marL="285750" indent="-285750">
              <a:buFont typeface="Wingdings" panose="05000000000000000000" pitchFamily="2" charset="2"/>
              <a:buChar char="v"/>
            </a:pPr>
            <a:r>
              <a:rPr lang="en-IN" sz="2200" b="1" dirty="0">
                <a:solidFill>
                  <a:srgbClr val="002060"/>
                </a:solidFill>
                <a:latin typeface="Times New Roman" panose="02020603050405020304" pitchFamily="18" charset="0"/>
                <a:cs typeface="Times New Roman" panose="02020603050405020304" pitchFamily="18" charset="0"/>
              </a:rPr>
              <a:t>Abda &amp; Naimi (2025): </a:t>
            </a:r>
            <a:r>
              <a:rPr lang="en-IN" sz="2200" dirty="0">
                <a:solidFill>
                  <a:srgbClr val="002060"/>
                </a:solidFill>
                <a:latin typeface="Times New Roman" panose="02020603050405020304" pitchFamily="18" charset="0"/>
                <a:cs typeface="Times New Roman" panose="02020603050405020304" pitchFamily="18" charset="0"/>
              </a:rPr>
              <a:t>Developed a model integrating Stationary Wavelet Transform (SWT), ResNet50V2, and LSTM networks, achieving an accuracy of 98.7%. </a:t>
            </a:r>
          </a:p>
          <a:p>
            <a:pPr marL="285750" indent="-285750">
              <a:buFont typeface="Wingdings" panose="05000000000000000000" pitchFamily="2" charset="2"/>
              <a:buChar char="v"/>
            </a:pPr>
            <a:r>
              <a:rPr lang="en-IN" sz="2200" b="1" dirty="0" err="1">
                <a:solidFill>
                  <a:srgbClr val="002060"/>
                </a:solidFill>
                <a:latin typeface="Times New Roman" panose="02020603050405020304" pitchFamily="18" charset="0"/>
                <a:cs typeface="Times New Roman" panose="02020603050405020304" pitchFamily="18" charset="0"/>
              </a:rPr>
              <a:t>Gokapay</a:t>
            </a:r>
            <a:r>
              <a:rPr lang="en-IN" sz="2200" b="1" dirty="0">
                <a:solidFill>
                  <a:srgbClr val="002060"/>
                </a:solidFill>
                <a:latin typeface="Times New Roman" panose="02020603050405020304" pitchFamily="18" charset="0"/>
                <a:cs typeface="Times New Roman" panose="02020603050405020304" pitchFamily="18" charset="0"/>
              </a:rPr>
              <a:t> &amp; Mohanty (2024): </a:t>
            </a:r>
            <a:r>
              <a:rPr lang="en-IN" sz="2200" dirty="0">
                <a:solidFill>
                  <a:srgbClr val="002060"/>
                </a:solidFill>
                <a:latin typeface="Times New Roman" panose="02020603050405020304" pitchFamily="18" charset="0"/>
                <a:cs typeface="Times New Roman" panose="02020603050405020304" pitchFamily="18" charset="0"/>
              </a:rPr>
              <a:t>Utilized Berkeley Wavelet Transform with a two-channel CNN, reporting an accuracy of 98.8%. </a:t>
            </a:r>
          </a:p>
          <a:p>
            <a:pPr marL="285750" indent="-285750">
              <a:buFont typeface="Wingdings" panose="05000000000000000000" pitchFamily="2" charset="2"/>
              <a:buChar char="v"/>
            </a:pPr>
            <a:r>
              <a:rPr lang="en-IN" sz="2200" b="1" dirty="0">
                <a:solidFill>
                  <a:srgbClr val="002060"/>
                </a:solidFill>
                <a:latin typeface="Times New Roman" panose="02020603050405020304" pitchFamily="18" charset="0"/>
                <a:cs typeface="Times New Roman" panose="02020603050405020304" pitchFamily="18" charset="0"/>
              </a:rPr>
              <a:t>Wavelet Texture Features with Optimized ANN (2024): </a:t>
            </a:r>
            <a:r>
              <a:rPr lang="en-IN" sz="2200" dirty="0">
                <a:solidFill>
                  <a:srgbClr val="002060"/>
                </a:solidFill>
                <a:latin typeface="Times New Roman" panose="02020603050405020304" pitchFamily="18" charset="0"/>
                <a:cs typeface="Times New Roman" panose="02020603050405020304" pitchFamily="18" charset="0"/>
              </a:rPr>
              <a:t>Employed wavelet-based texture features and Principal Component Analysis (PCA) with an optimized Artificial Neural Network (ANN), attaining an accuracy of 98.78%. </a:t>
            </a:r>
          </a:p>
          <a:p>
            <a:pPr marL="285750" indent="-285750">
              <a:buFont typeface="Wingdings" panose="05000000000000000000" pitchFamily="2" charset="2"/>
              <a:buChar char="v"/>
            </a:pPr>
            <a:r>
              <a:rPr lang="en-IN" sz="2200" b="1" dirty="0">
                <a:solidFill>
                  <a:srgbClr val="002060"/>
                </a:solidFill>
                <a:latin typeface="Times New Roman" panose="02020603050405020304" pitchFamily="18" charset="0"/>
                <a:cs typeface="Times New Roman" panose="02020603050405020304" pitchFamily="18" charset="0"/>
              </a:rPr>
              <a:t>Modified VGG16 Architecture (2024):</a:t>
            </a:r>
            <a:r>
              <a:rPr lang="en-IN" sz="2200" dirty="0">
                <a:solidFill>
                  <a:srgbClr val="002060"/>
                </a:solidFill>
                <a:latin typeface="Times New Roman" panose="02020603050405020304" pitchFamily="18" charset="0"/>
                <a:cs typeface="Times New Roman" panose="02020603050405020304" pitchFamily="18" charset="0"/>
              </a:rPr>
              <a:t>Enhanced VGG16 with additional dense layers and dropout for improved classification of MRI brain </a:t>
            </a:r>
            <a:r>
              <a:rPr lang="en-IN" sz="2200" dirty="0" err="1">
                <a:solidFill>
                  <a:srgbClr val="002060"/>
                </a:solidFill>
                <a:latin typeface="Times New Roman" panose="02020603050405020304" pitchFamily="18" charset="0"/>
                <a:cs typeface="Times New Roman" panose="02020603050405020304" pitchFamily="18" charset="0"/>
              </a:rPr>
              <a:t>tumors</a:t>
            </a:r>
            <a:r>
              <a:rPr lang="en-IN" sz="2200" dirty="0">
                <a:solidFill>
                  <a:srgbClr val="002060"/>
                </a:solidFill>
                <a:latin typeface="Times New Roman" panose="02020603050405020304" pitchFamily="18" charset="0"/>
                <a:cs typeface="Times New Roman" panose="02020603050405020304" pitchFamily="18" charset="0"/>
              </a:rPr>
              <a:t> reporting an accuracy of  99.08%.</a:t>
            </a:r>
            <a:endParaRPr lang="en-IN" sz="2200" dirty="0"/>
          </a:p>
          <a:p>
            <a:endParaRPr lang="en-IN" dirty="0"/>
          </a:p>
          <a:p>
            <a:endParaRPr lang="en-IN" dirty="0"/>
          </a:p>
        </p:txBody>
      </p:sp>
    </p:spTree>
    <p:extLst>
      <p:ext uri="{BB962C8B-B14F-4D97-AF65-F5344CB8AC3E}">
        <p14:creationId xmlns:p14="http://schemas.microsoft.com/office/powerpoint/2010/main" val="2340328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321B-275F-622D-16A3-3FEF0A19A717}"/>
              </a:ext>
            </a:extLst>
          </p:cNvPr>
          <p:cNvSpPr>
            <a:spLocks noGrp="1"/>
          </p:cNvSpPr>
          <p:nvPr>
            <p:ph type="title"/>
          </p:nvPr>
        </p:nvSpPr>
        <p:spPr/>
        <p:txBody>
          <a:bodyPr/>
          <a:lstStyle/>
          <a:p>
            <a:pPr marL="571500" indent="-571500">
              <a:buFont typeface="Wingdings" panose="05000000000000000000" pitchFamily="2" charset="2"/>
              <a:buChar char="q"/>
            </a:pPr>
            <a:r>
              <a:rPr lang="en-US" b="1" u="sng" dirty="0">
                <a:solidFill>
                  <a:srgbClr val="002060"/>
                </a:solidFill>
                <a:latin typeface="Times New Roman" panose="02020603050405020304" pitchFamily="18" charset="0"/>
                <a:cs typeface="Times New Roman" panose="02020603050405020304" pitchFamily="18" charset="0"/>
              </a:rPr>
              <a:t>CHALLENGES</a:t>
            </a:r>
            <a:r>
              <a:rPr lang="en-US" u="sng" dirty="0">
                <a:solidFill>
                  <a:srgbClr val="002060"/>
                </a:solidFill>
                <a:latin typeface="Times New Roman" panose="02020603050405020304" pitchFamily="18" charset="0"/>
                <a:cs typeface="Times New Roman" panose="02020603050405020304" pitchFamily="18" charset="0"/>
              </a:rPr>
              <a:t> </a:t>
            </a:r>
            <a:endParaRPr lang="en-IN" u="sng"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EF8483-8DB8-5427-CCBE-34FCB6396231}"/>
              </a:ext>
            </a:extLst>
          </p:cNvPr>
          <p:cNvSpPr txBox="1"/>
          <p:nvPr/>
        </p:nvSpPr>
        <p:spPr>
          <a:xfrm>
            <a:off x="2174240" y="1428750"/>
            <a:ext cx="9845040" cy="5355312"/>
          </a:xfrm>
          <a:prstGeom prst="rect">
            <a:avLst/>
          </a:prstGeom>
          <a:noFill/>
        </p:spPr>
        <p:txBody>
          <a:bodyPr wrap="square" rtlCol="0">
            <a:spAutoFit/>
          </a:bodyPr>
          <a:lstStyle/>
          <a:p>
            <a:r>
              <a:rPr lang="en-IN" b="1" dirty="0">
                <a:solidFill>
                  <a:srgbClr val="002060"/>
                </a:solidFill>
                <a:latin typeface="Times New Roman" panose="02020603050405020304" pitchFamily="18" charset="0"/>
                <a:cs typeface="Times New Roman" panose="02020603050405020304" pitchFamily="18" charset="0"/>
              </a:rPr>
              <a:t>1. MRI Image Variability</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Different scanner types, resolutions, and protocols affect image consistency.</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Hard to generalize across datasets without preprocessing.</a:t>
            </a:r>
          </a:p>
          <a:p>
            <a:r>
              <a:rPr lang="en-IN" b="1" dirty="0">
                <a:solidFill>
                  <a:srgbClr val="002060"/>
                </a:solidFill>
                <a:latin typeface="Times New Roman" panose="02020603050405020304" pitchFamily="18" charset="0"/>
                <a:cs typeface="Times New Roman" panose="02020603050405020304" pitchFamily="18" charset="0"/>
              </a:rPr>
              <a:t>2. Wavelet Feature Complexity</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Choosing optimal wavelet type and decomposition level is non-trivial.</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High dimensionality from wavelet coefficients can lead to overfitting.</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Trade-off between preserving fine details and reducing noise.</a:t>
            </a:r>
          </a:p>
          <a:p>
            <a:r>
              <a:rPr lang="en-IN" b="1" dirty="0">
                <a:solidFill>
                  <a:srgbClr val="002060"/>
                </a:solidFill>
                <a:latin typeface="Times New Roman" panose="02020603050405020304" pitchFamily="18" charset="0"/>
                <a:cs typeface="Times New Roman" panose="02020603050405020304" pitchFamily="18" charset="0"/>
              </a:rPr>
              <a:t>3. CNN Overfitting Risk</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Small datasets may cause CNNs to memorize patterns rather than generalize.</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Requires augmentation and regularization techniques (e.g., dropout, batch normalization).</a:t>
            </a:r>
          </a:p>
          <a:p>
            <a:pPr marL="285750" indent="-285750">
              <a:buFont typeface="Courier New" panose="02070309020205020404" pitchFamily="49" charset="0"/>
              <a:buChar char="o"/>
            </a:pPr>
            <a:r>
              <a:rPr lang="en-IN" dirty="0">
                <a:solidFill>
                  <a:srgbClr val="002060"/>
                </a:solidFill>
                <a:latin typeface="Times New Roman" panose="02020603050405020304" pitchFamily="18" charset="0"/>
                <a:cs typeface="Times New Roman" panose="02020603050405020304" pitchFamily="18" charset="0"/>
              </a:rPr>
              <a:t>Need for proper validation to prevent overfitting.</a:t>
            </a:r>
          </a:p>
          <a:p>
            <a:r>
              <a:rPr lang="en-US" b="1" dirty="0">
                <a:solidFill>
                  <a:srgbClr val="002060"/>
                </a:solidFill>
                <a:latin typeface="Times New Roman" panose="02020603050405020304" pitchFamily="18" charset="0"/>
                <a:cs typeface="Times New Roman" panose="02020603050405020304" pitchFamily="18" charset="0"/>
              </a:rPr>
              <a:t>4. Computational Load</a:t>
            </a:r>
          </a:p>
          <a:p>
            <a:pPr marL="285750" indent="-285750">
              <a:buFont typeface="Courier New" panose="02070309020205020404" pitchFamily="49" charset="0"/>
              <a:buChar char="o"/>
            </a:pPr>
            <a:r>
              <a:rPr lang="en-US" dirty="0">
                <a:solidFill>
                  <a:srgbClr val="002060"/>
                </a:solidFill>
                <a:latin typeface="Times New Roman" panose="02020603050405020304" pitchFamily="18" charset="0"/>
                <a:cs typeface="Times New Roman" panose="02020603050405020304" pitchFamily="18" charset="0"/>
              </a:rPr>
              <a:t>Wavelet transformation combined with deep CNNs increases memory and GPU demand.</a:t>
            </a:r>
          </a:p>
          <a:p>
            <a:pPr marL="285750" indent="-285750">
              <a:buFont typeface="Courier New" panose="02070309020205020404" pitchFamily="49" charset="0"/>
              <a:buChar char="o"/>
            </a:pPr>
            <a:r>
              <a:rPr lang="en-US" dirty="0">
                <a:solidFill>
                  <a:srgbClr val="002060"/>
                </a:solidFill>
                <a:latin typeface="Times New Roman" panose="02020603050405020304" pitchFamily="18" charset="0"/>
                <a:cs typeface="Times New Roman" panose="02020603050405020304" pitchFamily="18" charset="0"/>
              </a:rPr>
              <a:t>Slower training times due to large number of parameters. </a:t>
            </a:r>
          </a:p>
          <a:p>
            <a:r>
              <a:rPr lang="en-US" b="1" dirty="0">
                <a:solidFill>
                  <a:srgbClr val="002060"/>
                </a:solidFill>
                <a:latin typeface="Times New Roman" panose="02020603050405020304" pitchFamily="18" charset="0"/>
                <a:cs typeface="Times New Roman" panose="02020603050405020304" pitchFamily="18" charset="0"/>
              </a:rPr>
              <a:t>5. Lack of Annotated Data</a:t>
            </a:r>
          </a:p>
          <a:p>
            <a:pPr marL="285750" indent="-285750">
              <a:buFont typeface="Courier New" panose="02070309020205020404" pitchFamily="49" charset="0"/>
              <a:buChar char="o"/>
            </a:pPr>
            <a:r>
              <a:rPr lang="en-US" dirty="0">
                <a:solidFill>
                  <a:srgbClr val="002060"/>
                </a:solidFill>
                <a:latin typeface="Times New Roman" panose="02020603050405020304" pitchFamily="18" charset="0"/>
                <a:cs typeface="Times New Roman" panose="02020603050405020304" pitchFamily="18" charset="0"/>
              </a:rPr>
              <a:t>Annotated medical datasets are limited and expensive to obtain.</a:t>
            </a:r>
          </a:p>
          <a:p>
            <a:pPr marL="285750" indent="-285750">
              <a:buFont typeface="Courier New" panose="02070309020205020404" pitchFamily="49" charset="0"/>
              <a:buChar char="o"/>
            </a:pPr>
            <a:r>
              <a:rPr lang="en-US" dirty="0">
                <a:solidFill>
                  <a:srgbClr val="002060"/>
                </a:solidFill>
                <a:latin typeface="Times New Roman" panose="02020603050405020304" pitchFamily="18" charset="0"/>
                <a:cs typeface="Times New Roman" panose="02020603050405020304" pitchFamily="18" charset="0"/>
              </a:rPr>
              <a:t>Class imbalance in the dataset (e.g., fewer cases of rare tumors) can affect performance.</a:t>
            </a:r>
          </a:p>
          <a:p>
            <a:endParaRPr lang="en-IN" dirty="0"/>
          </a:p>
          <a:p>
            <a:pPr marL="342900" indent="-342900">
              <a:buAutoNum type="arabicPeriod"/>
            </a:pPr>
            <a:endParaRPr lang="en-IN" dirty="0"/>
          </a:p>
        </p:txBody>
      </p:sp>
    </p:spTree>
    <p:extLst>
      <p:ext uri="{BB962C8B-B14F-4D97-AF65-F5344CB8AC3E}">
        <p14:creationId xmlns:p14="http://schemas.microsoft.com/office/powerpoint/2010/main" val="1721376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AA9525-1ECE-E587-90AB-73572B6FB691}"/>
              </a:ext>
            </a:extLst>
          </p:cNvPr>
          <p:cNvSpPr txBox="1"/>
          <p:nvPr/>
        </p:nvSpPr>
        <p:spPr>
          <a:xfrm>
            <a:off x="967007" y="484296"/>
            <a:ext cx="4156907" cy="984885"/>
          </a:xfrm>
          <a:prstGeom prst="rect">
            <a:avLst/>
          </a:prstGeom>
          <a:noFill/>
        </p:spPr>
        <p:txBody>
          <a:bodyPr wrap="none" rtlCol="0">
            <a:spAutoFit/>
          </a:bodyPr>
          <a:lstStyle/>
          <a:p>
            <a:pPr marL="571500" indent="-571500">
              <a:buFont typeface="Wingdings" panose="05000000000000000000" pitchFamily="2" charset="2"/>
              <a:buChar char="q"/>
            </a:pPr>
            <a:r>
              <a:rPr lang="en-US" sz="4000" b="1" u="sng" dirty="0">
                <a:solidFill>
                  <a:srgbClr val="002060"/>
                </a:solidFill>
                <a:latin typeface="Times New Roman" panose="02020603050405020304" pitchFamily="18" charset="0"/>
                <a:cs typeface="Times New Roman" panose="02020603050405020304" pitchFamily="18" charset="0"/>
              </a:rPr>
              <a:t>OBJECTIVE:-</a:t>
            </a:r>
            <a:r>
              <a:rPr lang="en-US" sz="2800" b="1" dirty="0">
                <a:solidFill>
                  <a:srgbClr val="002060"/>
                </a:solidFill>
                <a:latin typeface="Times New Roman" panose="02020603050405020304" pitchFamily="18" charset="0"/>
                <a:cs typeface="Times New Roman" panose="02020603050405020304" pitchFamily="18" charset="0"/>
              </a:rPr>
              <a:t> </a:t>
            </a:r>
            <a:endParaRPr lang="en-US" sz="2800" b="1" i="0" dirty="0">
              <a:solidFill>
                <a:srgbClr val="002060"/>
              </a:solidFill>
              <a:effectLst/>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915EE1FF-B0B8-E695-C528-F0754C83CC7B}"/>
              </a:ext>
            </a:extLst>
          </p:cNvPr>
          <p:cNvSpPr txBox="1"/>
          <p:nvPr/>
        </p:nvSpPr>
        <p:spPr>
          <a:xfrm>
            <a:off x="1045029" y="1045030"/>
            <a:ext cx="10384971" cy="4801314"/>
          </a:xfrm>
          <a:prstGeom prst="rect">
            <a:avLst/>
          </a:prstGeom>
          <a:noFill/>
        </p:spPr>
        <p:txBody>
          <a:bodyPr wrap="square" rtlCol="0">
            <a:spAutoFit/>
          </a:bodyPr>
          <a:lstStyle/>
          <a:p>
            <a:pPr algn="just"/>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800" dirty="0">
                <a:solidFill>
                  <a:srgbClr val="002060"/>
                </a:solidFill>
                <a:latin typeface="Times New Roman" panose="02020603050405020304" pitchFamily="18" charset="0"/>
                <a:cs typeface="Times New Roman" panose="02020603050405020304" pitchFamily="18" charset="0"/>
              </a:rPr>
              <a:t>The primary objective of using machine learning (ML) for brain tumor detection is to develop automated and accurate methods for identifying and classifying brain tumors from medical images like MRI scans, aiding in early and precise diagnosis and treatment planning.</a:t>
            </a:r>
          </a:p>
          <a:p>
            <a:pPr marL="342900" indent="-342900" algn="just">
              <a:buFont typeface="Wingdings" panose="05000000000000000000" pitchFamily="2" charset="2"/>
              <a:buChar char="v"/>
            </a:pPr>
            <a:r>
              <a:rPr lang="en-US" sz="2800" dirty="0">
                <a:solidFill>
                  <a:srgbClr val="002060"/>
                </a:solidFill>
                <a:latin typeface="Times New Roman" panose="02020603050405020304" pitchFamily="18" charset="0"/>
                <a:cs typeface="Times New Roman" panose="02020603050405020304" pitchFamily="18" charset="0"/>
              </a:rPr>
              <a:t>To test &amp; classify the tumors we use different machine learning algorithms like </a:t>
            </a:r>
            <a:r>
              <a:rPr lang="en-IN" sz="2800" b="0" i="0" dirty="0">
                <a:solidFill>
                  <a:srgbClr val="002060"/>
                </a:solidFill>
                <a:effectLst/>
                <a:latin typeface="Google Sans"/>
              </a:rPr>
              <a:t>convolutional neural network (CNN)</a:t>
            </a:r>
            <a:r>
              <a:rPr lang="en-US" sz="2800" dirty="0">
                <a:solidFill>
                  <a:srgbClr val="002060"/>
                </a:solidFill>
                <a:latin typeface="Times New Roman" panose="02020603050405020304" pitchFamily="18" charset="0"/>
                <a:cs typeface="Times New Roman" panose="02020603050405020304" pitchFamily="18" charset="0"/>
              </a:rPr>
              <a:t>,VGG-16,Support Vector Machine(SVM) &amp; Logistic Regression.</a:t>
            </a:r>
            <a:endParaRPr lang="en-US" sz="2800" b="1" u="sng" dirty="0">
              <a:latin typeface="Times New Roman" panose="02020603050405020304" pitchFamily="18" charset="0"/>
              <a:ea typeface="Times New Roman Bold"/>
              <a:cs typeface="Times New Roman" panose="02020603050405020304" pitchFamily="18" charset="0"/>
              <a:sym typeface="Times New Roman Bold"/>
            </a:endParaRPr>
          </a:p>
          <a:p>
            <a:pPr algn="just"/>
            <a:endParaRPr lang="en-US" sz="2000" b="0" i="0" dirty="0">
              <a:solidFill>
                <a:srgbClr val="002060"/>
              </a:solidFill>
              <a:effectLst/>
              <a:latin typeface="Times New Roman" panose="02020603050405020304" pitchFamily="18" charset="0"/>
              <a:cs typeface="Times New Roman" panose="02020603050405020304" pitchFamily="18" charset="0"/>
            </a:endParaRPr>
          </a:p>
          <a:p>
            <a:pPr algn="just"/>
            <a:endParaRPr lang="en-US" sz="2000" b="0" i="0" dirty="0">
              <a:solidFill>
                <a:srgbClr val="002060"/>
              </a:solidFill>
              <a:effectLst/>
              <a:latin typeface="Times New Roman" panose="02020603050405020304" pitchFamily="18" charset="0"/>
              <a:cs typeface="Times New Roman" panose="02020603050405020304" pitchFamily="18" charset="0"/>
            </a:endParaRPr>
          </a:p>
          <a:p>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795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BB162F-761A-5F72-26C6-5DE2D77AD244}"/>
              </a:ext>
            </a:extLst>
          </p:cNvPr>
          <p:cNvSpPr txBox="1"/>
          <p:nvPr/>
        </p:nvSpPr>
        <p:spPr>
          <a:xfrm>
            <a:off x="1033145" y="355601"/>
            <a:ext cx="6667500" cy="3785652"/>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b="1" u="sng" dirty="0">
                <a:solidFill>
                  <a:srgbClr val="002060"/>
                </a:solidFill>
                <a:latin typeface="Times New Roman" panose="02020603050405020304" pitchFamily="18" charset="0"/>
                <a:cs typeface="Times New Roman" panose="02020603050405020304" pitchFamily="18" charset="0"/>
              </a:rPr>
              <a:t>OVERVIEW OF BRAIN TUMOR:-</a:t>
            </a:r>
          </a:p>
          <a:p>
            <a:pPr marL="342900" indent="-342900" algn="just">
              <a:buFont typeface="Wingdings" panose="05000000000000000000" pitchFamily="2" charset="2"/>
              <a:buChar char="q"/>
            </a:pPr>
            <a:endParaRPr lang="en-IN" sz="2400" b="1" u="sng" dirty="0">
              <a:solidFill>
                <a:srgbClr val="002060"/>
              </a:solidFill>
              <a:latin typeface="Times New Roman" panose="02020603050405020304" pitchFamily="18" charset="0"/>
              <a:cs typeface="Times New Roman" panose="02020603050405020304" pitchFamily="18" charset="0"/>
            </a:endParaRPr>
          </a:p>
          <a:p>
            <a:pPr algn="just"/>
            <a:r>
              <a:rPr lang="en-US" sz="2200" b="0" i="0" dirty="0">
                <a:solidFill>
                  <a:srgbClr val="002060"/>
                </a:solidFill>
                <a:effectLst/>
                <a:latin typeface="Times New Roman" panose="02020603050405020304" pitchFamily="18" charset="0"/>
                <a:cs typeface="Times New Roman" panose="02020603050405020304" pitchFamily="18" charset="0"/>
              </a:rPr>
              <a:t>Brain tumors are abnormal growths of cells in the brain. They can be benign (non-cancerous) or malignant (cancerous), and they can originate in the brain itself or spread from other parts of the body. The presence of a tumor in the brain can interfere with normal brain functions, leading to various neurological symptoms.</a:t>
            </a:r>
          </a:p>
          <a:p>
            <a:pPr algn="just"/>
            <a:endParaRPr lang="en-US" sz="2200" b="0" i="0" dirty="0">
              <a:solidFill>
                <a:srgbClr val="002060"/>
              </a:solidFill>
              <a:effectLst/>
              <a:latin typeface="Times New Roman" panose="02020603050405020304" pitchFamily="18" charset="0"/>
              <a:cs typeface="Times New Roman" panose="02020603050405020304" pitchFamily="18" charset="0"/>
            </a:endParaRPr>
          </a:p>
          <a:p>
            <a:pPr algn="just"/>
            <a:endParaRPr lang="en-US" sz="2000" b="0" i="0" dirty="0">
              <a:solidFill>
                <a:srgbClr val="002060"/>
              </a:solidFill>
              <a:effectLst/>
              <a:latin typeface="Times New Roman" panose="02020603050405020304" pitchFamily="18" charset="0"/>
              <a:cs typeface="Times New Roman" panose="02020603050405020304" pitchFamily="18" charset="0"/>
            </a:endParaRPr>
          </a:p>
          <a:p>
            <a:endParaRPr lang="en-IN" dirty="0"/>
          </a:p>
        </p:txBody>
      </p:sp>
      <p:pic>
        <p:nvPicPr>
          <p:cNvPr id="1028" name="Picture 4" descr="Advances in Brain and Spinal Cord Tumor Research - NCI">
            <a:extLst>
              <a:ext uri="{FF2B5EF4-FFF2-40B4-BE49-F238E27FC236}">
                <a16:creationId xmlns:a16="http://schemas.microsoft.com/office/drawing/2014/main" id="{76B82C89-9396-C1C2-01DF-C4A148EFD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799" y="2233026"/>
            <a:ext cx="3679372" cy="32548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899F6A3-3AE4-19BC-9165-0C89847B6B45}"/>
              </a:ext>
            </a:extLst>
          </p:cNvPr>
          <p:cNvSpPr txBox="1"/>
          <p:nvPr/>
        </p:nvSpPr>
        <p:spPr>
          <a:xfrm>
            <a:off x="1033145" y="3629607"/>
            <a:ext cx="7416800" cy="461665"/>
          </a:xfrm>
          <a:prstGeom prst="rect">
            <a:avLst/>
          </a:prstGeom>
          <a:noFill/>
        </p:spPr>
        <p:txBody>
          <a:bodyPr wrap="square" rtlCol="0">
            <a:spAutoFit/>
          </a:bodyPr>
          <a:lstStyle/>
          <a:p>
            <a:pPr marL="285750" indent="-285750" algn="just">
              <a:buFont typeface="Wingdings" panose="05000000000000000000" pitchFamily="2" charset="2"/>
              <a:buChar char="q"/>
            </a:pPr>
            <a:r>
              <a:rPr lang="en-US" sz="2400" b="1" u="sng" dirty="0">
                <a:solidFill>
                  <a:srgbClr val="002060"/>
                </a:solidFill>
                <a:effectLst/>
                <a:latin typeface="Times New Roman" panose="02020603050405020304" pitchFamily="18" charset="0"/>
                <a:cs typeface="Times New Roman" panose="02020603050405020304" pitchFamily="18" charset="0"/>
              </a:rPr>
              <a:t>IMPORTANCE OF EARLY DETECTION:-</a:t>
            </a:r>
          </a:p>
        </p:txBody>
      </p:sp>
      <p:sp>
        <p:nvSpPr>
          <p:cNvPr id="4" name="TextBox 3">
            <a:extLst>
              <a:ext uri="{FF2B5EF4-FFF2-40B4-BE49-F238E27FC236}">
                <a16:creationId xmlns:a16="http://schemas.microsoft.com/office/drawing/2014/main" id="{EE765F5D-4A34-A351-9D9A-B56659C13F3F}"/>
              </a:ext>
            </a:extLst>
          </p:cNvPr>
          <p:cNvSpPr txBox="1"/>
          <p:nvPr/>
        </p:nvSpPr>
        <p:spPr>
          <a:xfrm>
            <a:off x="1151255" y="4091272"/>
            <a:ext cx="6431280" cy="2339102"/>
          </a:xfrm>
          <a:prstGeom prst="rect">
            <a:avLst/>
          </a:prstGeom>
          <a:noFill/>
        </p:spPr>
        <p:txBody>
          <a:bodyPr wrap="square" rtlCol="0">
            <a:spAutoFit/>
          </a:bodyPr>
          <a:lstStyle/>
          <a:p>
            <a:pPr algn="just"/>
            <a:endParaRPr lang="en-US" sz="1800" b="1" i="0" dirty="0">
              <a:solidFill>
                <a:srgbClr val="002060"/>
              </a:solidFill>
              <a:effectLst/>
              <a:latin typeface="Times New Roman" panose="02020603050405020304" pitchFamily="18" charset="0"/>
              <a:cs typeface="Times New Roman" panose="02020603050405020304" pitchFamily="18" charset="0"/>
            </a:endParaRPr>
          </a:p>
          <a:p>
            <a:pPr algn="just"/>
            <a:r>
              <a:rPr lang="en-US" sz="2200" b="0" i="0" dirty="0">
                <a:solidFill>
                  <a:srgbClr val="002060"/>
                </a:solidFill>
                <a:effectLst/>
                <a:latin typeface="Times New Roman" panose="02020603050405020304" pitchFamily="18" charset="0"/>
                <a:cs typeface="Times New Roman" panose="02020603050405020304" pitchFamily="18" charset="0"/>
              </a:rPr>
              <a:t>Early detection of brain tumors is crucial for effective treatment and improved patient outcomes. Timely identification allows for prompt medical intervention, reducing the risk of complications and enhancing the chances of successful treatment.</a:t>
            </a:r>
          </a:p>
          <a:p>
            <a:endParaRPr lang="en-IN" dirty="0"/>
          </a:p>
        </p:txBody>
      </p:sp>
    </p:spTree>
    <p:extLst>
      <p:ext uri="{BB962C8B-B14F-4D97-AF65-F5344CB8AC3E}">
        <p14:creationId xmlns:p14="http://schemas.microsoft.com/office/powerpoint/2010/main" val="2021653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D12B0E-2A18-85C8-BF25-C61B106E271D}"/>
              </a:ext>
            </a:extLst>
          </p:cNvPr>
          <p:cNvSpPr txBox="1"/>
          <p:nvPr/>
        </p:nvSpPr>
        <p:spPr>
          <a:xfrm>
            <a:off x="975360" y="304800"/>
            <a:ext cx="11115040" cy="1569660"/>
          </a:xfrm>
          <a:prstGeom prst="rect">
            <a:avLst/>
          </a:prstGeom>
          <a:noFill/>
        </p:spPr>
        <p:txBody>
          <a:bodyPr wrap="square" rtlCol="0">
            <a:spAutoFit/>
          </a:bodyPr>
          <a:lstStyle/>
          <a:p>
            <a:pPr marL="571500" indent="-571500">
              <a:buFont typeface="Wingdings" panose="05000000000000000000" pitchFamily="2" charset="2"/>
              <a:buChar char="q"/>
            </a:pPr>
            <a:r>
              <a:rPr lang="en-US" sz="3200" b="1" u="sng" dirty="0">
                <a:solidFill>
                  <a:srgbClr val="002060"/>
                </a:solidFill>
                <a:latin typeface="Times New Roman" panose="02020603050405020304" pitchFamily="18" charset="0"/>
                <a:cs typeface="Times New Roman" panose="02020603050405020304" pitchFamily="18" charset="0"/>
              </a:rPr>
              <a:t>INTRODUCTION TO MACHINE LEARNING ALGORITHMS</a:t>
            </a:r>
          </a:p>
          <a:p>
            <a:pPr marL="285750" indent="-285750">
              <a:buFont typeface="Wingdings" panose="05000000000000000000" pitchFamily="2" charset="2"/>
              <a:buChar char="q"/>
            </a:pPr>
            <a:endParaRPr lang="en-IN" sz="3200" dirty="0"/>
          </a:p>
        </p:txBody>
      </p:sp>
      <p:sp>
        <p:nvSpPr>
          <p:cNvPr id="3" name="TextBox 2">
            <a:extLst>
              <a:ext uri="{FF2B5EF4-FFF2-40B4-BE49-F238E27FC236}">
                <a16:creationId xmlns:a16="http://schemas.microsoft.com/office/drawing/2014/main" id="{8017B772-A50E-E34E-86C7-B46A0E3A785E}"/>
              </a:ext>
            </a:extLst>
          </p:cNvPr>
          <p:cNvSpPr txBox="1"/>
          <p:nvPr/>
        </p:nvSpPr>
        <p:spPr>
          <a:xfrm>
            <a:off x="1188720" y="1422399"/>
            <a:ext cx="10353040" cy="4616648"/>
          </a:xfrm>
          <a:prstGeom prst="rect">
            <a:avLst/>
          </a:prstGeom>
          <a:noFill/>
        </p:spPr>
        <p:txBody>
          <a:bodyPr wrap="square" rtlCol="0">
            <a:spAutoFit/>
          </a:bodyPr>
          <a:lstStyle/>
          <a:p>
            <a:pPr algn="just"/>
            <a:endParaRPr lang="en-US" sz="20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To test &amp; classify the tumors we use different machine learning algorithms like Logistic Regression ,Support Vector Machine (SVM) ,CNN &amp; VGG-16 algorithms.</a:t>
            </a:r>
          </a:p>
          <a:p>
            <a:pPr algn="just"/>
            <a:endParaRPr lang="en-US" sz="2000" b="1" i="0" dirty="0">
              <a:solidFill>
                <a:srgbClr val="002060"/>
              </a:solidFill>
              <a:effectLst/>
              <a:latin typeface="Times New Roman" panose="02020603050405020304" pitchFamily="18" charset="0"/>
              <a:cs typeface="Times New Roman" panose="02020603050405020304" pitchFamily="18" charset="0"/>
            </a:endParaRPr>
          </a:p>
          <a:p>
            <a:pPr algn="just"/>
            <a:r>
              <a:rPr lang="en-US" sz="2000" b="1" i="0" dirty="0">
                <a:solidFill>
                  <a:srgbClr val="002060"/>
                </a:solidFill>
                <a:effectLst/>
                <a:latin typeface="Times New Roman" panose="02020603050405020304" pitchFamily="18" charset="0"/>
                <a:cs typeface="Times New Roman" panose="02020603050405020304" pitchFamily="18" charset="0"/>
              </a:rPr>
              <a:t>1</a:t>
            </a:r>
            <a:r>
              <a:rPr lang="en-US" sz="2400" b="1" i="0" dirty="0">
                <a:solidFill>
                  <a:srgbClr val="002060"/>
                </a:solidFill>
                <a:effectLst/>
                <a:latin typeface="Times New Roman" panose="02020603050405020304" pitchFamily="18" charset="0"/>
                <a:cs typeface="Times New Roman" panose="02020603050405020304" pitchFamily="18" charset="0"/>
              </a:rPr>
              <a:t>. Introduction:</a:t>
            </a:r>
            <a:endParaRPr lang="en-US" sz="2400" b="0" i="0" dirty="0">
              <a:solidFill>
                <a:srgbClr val="00206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a:solidFill>
                  <a:srgbClr val="002060"/>
                </a:solidFill>
                <a:effectLst/>
                <a:latin typeface="Times New Roman" panose="02020603050405020304" pitchFamily="18" charset="0"/>
                <a:cs typeface="Times New Roman" panose="02020603050405020304" pitchFamily="18" charset="0"/>
              </a:rPr>
              <a:t>SVM (Support Vector Machines)</a:t>
            </a:r>
            <a:r>
              <a:rPr lang="en-US" sz="2400" b="0" i="0" dirty="0">
                <a:solidFill>
                  <a:srgbClr val="002060"/>
                </a:solidFill>
                <a:effectLst/>
                <a:latin typeface="Times New Roman" panose="02020603050405020304" pitchFamily="18" charset="0"/>
                <a:cs typeface="Times New Roman" panose="02020603050405020304" pitchFamily="18" charset="0"/>
              </a:rPr>
              <a:t> is a powerful supervised learning algorithm primarily designed for classification tasks. However, it can also be adapted for regression and outlier detection tasks.</a:t>
            </a:r>
          </a:p>
          <a:p>
            <a:pPr algn="just">
              <a:buFont typeface="Arial" panose="020B0604020202020204" pitchFamily="34" charset="0"/>
              <a:buChar char="•"/>
            </a:pPr>
            <a:r>
              <a:rPr lang="en-US" sz="2400" b="0" i="0" dirty="0">
                <a:solidFill>
                  <a:srgbClr val="002060"/>
                </a:solidFill>
                <a:effectLst/>
                <a:latin typeface="Times New Roman" panose="02020603050405020304" pitchFamily="18" charset="0"/>
                <a:cs typeface="Times New Roman" panose="02020603050405020304" pitchFamily="18" charset="0"/>
              </a:rPr>
              <a:t>Its primary strength lies in its ability to handle high-dimensional data and find optimal hyperplanes for classification.</a:t>
            </a:r>
          </a:p>
          <a:p>
            <a:pPr algn="just"/>
            <a:endParaRPr lang="en-US" sz="2000" b="0" i="0" dirty="0">
              <a:solidFill>
                <a:srgbClr val="002060"/>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43345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6.jpeg">
            <a:extLst>
              <a:ext uri="{FF2B5EF4-FFF2-40B4-BE49-F238E27FC236}">
                <a16:creationId xmlns:a16="http://schemas.microsoft.com/office/drawing/2014/main" id="{C24DF23A-D1D4-91D6-5F34-9C779EF4EED4}"/>
              </a:ext>
            </a:extLst>
          </p:cNvPr>
          <p:cNvPicPr>
            <a:picLocks noChangeAspect="1"/>
          </p:cNvPicPr>
          <p:nvPr/>
        </p:nvPicPr>
        <p:blipFill>
          <a:blip r:embed="rId2" cstate="print"/>
          <a:stretch>
            <a:fillRect/>
          </a:stretch>
        </p:blipFill>
        <p:spPr>
          <a:xfrm>
            <a:off x="3682523" y="210474"/>
            <a:ext cx="4826953" cy="3267937"/>
          </a:xfrm>
          <a:prstGeom prst="rect">
            <a:avLst/>
          </a:prstGeom>
        </p:spPr>
      </p:pic>
      <p:sp>
        <p:nvSpPr>
          <p:cNvPr id="3" name="TextBox 2">
            <a:extLst>
              <a:ext uri="{FF2B5EF4-FFF2-40B4-BE49-F238E27FC236}">
                <a16:creationId xmlns:a16="http://schemas.microsoft.com/office/drawing/2014/main" id="{4064447A-EC0F-E59E-0B8A-8788F7FE4BA6}"/>
              </a:ext>
            </a:extLst>
          </p:cNvPr>
          <p:cNvSpPr txBox="1"/>
          <p:nvPr/>
        </p:nvSpPr>
        <p:spPr>
          <a:xfrm>
            <a:off x="1579879" y="3847743"/>
            <a:ext cx="9784080" cy="2123658"/>
          </a:xfrm>
          <a:prstGeom prst="rect">
            <a:avLst/>
          </a:prstGeom>
          <a:noFill/>
        </p:spPr>
        <p:txBody>
          <a:bodyPr wrap="square" rtlCol="0">
            <a:spAutoFit/>
          </a:bodyPr>
          <a:lstStyle/>
          <a:p>
            <a:pPr algn="just"/>
            <a:r>
              <a:rPr lang="en-US" sz="2200" b="1" i="0" dirty="0">
                <a:solidFill>
                  <a:srgbClr val="002060"/>
                </a:solidFill>
                <a:effectLst/>
                <a:latin typeface="Times New Roman" panose="02020603050405020304" pitchFamily="18" charset="0"/>
                <a:cs typeface="Times New Roman" panose="02020603050405020304" pitchFamily="18" charset="0"/>
              </a:rPr>
              <a:t>2. Working Principle:</a:t>
            </a:r>
            <a:endParaRPr lang="en-US" sz="2200" b="0" i="0" dirty="0">
              <a:solidFill>
                <a:srgbClr val="00206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i="0" dirty="0">
                <a:solidFill>
                  <a:srgbClr val="002060"/>
                </a:solidFill>
                <a:effectLst/>
                <a:latin typeface="Times New Roman" panose="02020603050405020304" pitchFamily="18" charset="0"/>
                <a:cs typeface="Times New Roman" panose="02020603050405020304" pitchFamily="18" charset="0"/>
              </a:rPr>
              <a:t>Hyperplane:</a:t>
            </a:r>
            <a:r>
              <a:rPr lang="en-US" sz="2200" b="0" i="0" dirty="0">
                <a:solidFill>
                  <a:srgbClr val="002060"/>
                </a:solidFill>
                <a:effectLst/>
                <a:latin typeface="Times New Roman" panose="02020603050405020304" pitchFamily="18" charset="0"/>
                <a:cs typeface="Times New Roman" panose="02020603050405020304" pitchFamily="18" charset="0"/>
              </a:rPr>
              <a:t> In a binary classification scenario, SVM aims to find a hyperplane that best separates the data points into two distinct classes.</a:t>
            </a:r>
          </a:p>
          <a:p>
            <a:pPr marL="285750" indent="-285750">
              <a:buFont typeface="Arial" panose="020B0604020202020204" pitchFamily="34" charset="0"/>
              <a:buChar char="•"/>
            </a:pPr>
            <a:r>
              <a:rPr lang="en-US" sz="2200" b="1" i="0" dirty="0">
                <a:solidFill>
                  <a:srgbClr val="002060"/>
                </a:solidFill>
                <a:effectLst/>
                <a:latin typeface="Times New Roman" panose="02020603050405020304" pitchFamily="18" charset="0"/>
                <a:cs typeface="Times New Roman" panose="02020603050405020304" pitchFamily="18" charset="0"/>
              </a:rPr>
              <a:t>Margin Maximization:</a:t>
            </a:r>
            <a:r>
              <a:rPr lang="en-US" sz="2200" b="0" i="0" dirty="0">
                <a:solidFill>
                  <a:srgbClr val="002060"/>
                </a:solidFill>
                <a:effectLst/>
                <a:latin typeface="Times New Roman" panose="02020603050405020304" pitchFamily="18" charset="0"/>
                <a:cs typeface="Times New Roman" panose="02020603050405020304" pitchFamily="18" charset="0"/>
              </a:rPr>
              <a:t> The algorithm seeks to maximize the margin (distance) between the closest data points (support vectors) of the two classes, ensuring robust generalization.</a:t>
            </a:r>
            <a:endParaRPr lang="en-IN" sz="2200" dirty="0"/>
          </a:p>
        </p:txBody>
      </p:sp>
      <p:sp>
        <p:nvSpPr>
          <p:cNvPr id="4" name="TextBox 3">
            <a:extLst>
              <a:ext uri="{FF2B5EF4-FFF2-40B4-BE49-F238E27FC236}">
                <a16:creationId xmlns:a16="http://schemas.microsoft.com/office/drawing/2014/main" id="{3FC5B9FB-5334-871C-43B0-80BECC6350AF}"/>
              </a:ext>
            </a:extLst>
          </p:cNvPr>
          <p:cNvSpPr txBox="1"/>
          <p:nvPr/>
        </p:nvSpPr>
        <p:spPr>
          <a:xfrm>
            <a:off x="6045199" y="3478411"/>
            <a:ext cx="1859280" cy="369332"/>
          </a:xfrm>
          <a:prstGeom prst="rect">
            <a:avLst/>
          </a:prstGeom>
          <a:noFill/>
        </p:spPr>
        <p:txBody>
          <a:bodyPr wrap="square" rtlCol="0">
            <a:spAutoFit/>
          </a:bodyPr>
          <a:lstStyle/>
          <a:p>
            <a:r>
              <a:rPr lang="en-US" dirty="0">
                <a:latin typeface="Sitka Text Semibold" pitchFamily="2" charset="0"/>
                <a:ea typeface="SimSun" panose="02010600030101010101" pitchFamily="2" charset="-122"/>
                <a:cs typeface="Times New Roman" panose="02020603050405020304" pitchFamily="18" charset="0"/>
              </a:rPr>
              <a:t>SVM</a:t>
            </a:r>
            <a:endParaRPr lang="en-IN" dirty="0">
              <a:latin typeface="Sitka Text Semibold" pitchFamily="2"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1880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820123-3D7F-DE4D-580B-8CBA1D1B43EF}"/>
              </a:ext>
            </a:extLst>
          </p:cNvPr>
          <p:cNvSpPr txBox="1"/>
          <p:nvPr/>
        </p:nvSpPr>
        <p:spPr>
          <a:xfrm>
            <a:off x="1310640" y="467360"/>
            <a:ext cx="10017760" cy="6463308"/>
          </a:xfrm>
          <a:prstGeom prst="rect">
            <a:avLst/>
          </a:prstGeom>
          <a:noFill/>
        </p:spPr>
        <p:txBody>
          <a:bodyPr wrap="square" rtlCol="0">
            <a:spAutoFit/>
          </a:bodyPr>
          <a:lstStyle/>
          <a:p>
            <a:pPr algn="l"/>
            <a:r>
              <a:rPr lang="en-US" sz="2200" b="1" i="0" dirty="0">
                <a:solidFill>
                  <a:srgbClr val="002060"/>
                </a:solidFill>
                <a:effectLst/>
                <a:latin typeface="Times New Roman" panose="02020603050405020304" pitchFamily="18" charset="0"/>
                <a:cs typeface="Times New Roman" panose="02020603050405020304" pitchFamily="18" charset="0"/>
              </a:rPr>
              <a:t>Logistic Regression</a:t>
            </a:r>
          </a:p>
          <a:p>
            <a:pPr algn="l"/>
            <a:r>
              <a:rPr lang="en-US" sz="2200" b="1" i="0" dirty="0">
                <a:solidFill>
                  <a:srgbClr val="002060"/>
                </a:solidFill>
                <a:effectLst/>
                <a:latin typeface="Times New Roman" panose="02020603050405020304" pitchFamily="18" charset="0"/>
                <a:cs typeface="Times New Roman" panose="02020603050405020304" pitchFamily="18" charset="0"/>
              </a:rPr>
              <a:t>1. Introduction:</a:t>
            </a:r>
            <a:endParaRPr lang="en-US" sz="2200" b="0" i="0" dirty="0">
              <a:solidFill>
                <a:srgbClr val="00206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200" b="1" i="0" dirty="0">
                <a:solidFill>
                  <a:srgbClr val="002060"/>
                </a:solidFill>
                <a:effectLst/>
                <a:latin typeface="Times New Roman" panose="02020603050405020304" pitchFamily="18" charset="0"/>
                <a:cs typeface="Times New Roman" panose="02020603050405020304" pitchFamily="18" charset="0"/>
              </a:rPr>
              <a:t>Logistic Regression</a:t>
            </a:r>
            <a:r>
              <a:rPr lang="en-US" sz="2200" b="0" i="0" dirty="0">
                <a:solidFill>
                  <a:srgbClr val="002060"/>
                </a:solidFill>
                <a:effectLst/>
                <a:latin typeface="Times New Roman" panose="02020603050405020304" pitchFamily="18" charset="0"/>
                <a:cs typeface="Times New Roman" panose="02020603050405020304" pitchFamily="18" charset="0"/>
              </a:rPr>
              <a:t> is a statistical method used for binary classification problems, predicting the probability of an instance belonging to a particular class.</a:t>
            </a:r>
          </a:p>
          <a:p>
            <a:pPr algn="l">
              <a:buFont typeface="Arial" panose="020B0604020202020204" pitchFamily="34" charset="0"/>
              <a:buChar char="•"/>
            </a:pPr>
            <a:r>
              <a:rPr lang="en-US" sz="2200" b="0" i="0" dirty="0">
                <a:solidFill>
                  <a:srgbClr val="002060"/>
                </a:solidFill>
                <a:effectLst/>
                <a:latin typeface="Times New Roman" panose="02020603050405020304" pitchFamily="18" charset="0"/>
                <a:cs typeface="Times New Roman" panose="02020603050405020304" pitchFamily="18" charset="0"/>
              </a:rPr>
              <a:t>Despite its name, Logistic Regression is a classification algorithm rather than a regression technique.</a:t>
            </a:r>
          </a:p>
          <a:p>
            <a:pPr algn="l">
              <a:buFont typeface="Arial" panose="020B0604020202020204" pitchFamily="34" charset="0"/>
              <a:buChar char="•"/>
            </a:pPr>
            <a:endParaRPr lang="en-US" sz="2200" dirty="0">
              <a:solidFill>
                <a:srgbClr val="0020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200" b="0" i="0" dirty="0">
              <a:solidFill>
                <a:srgbClr val="00206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200" dirty="0">
              <a:solidFill>
                <a:srgbClr val="0020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200" b="0" i="0" dirty="0">
              <a:solidFill>
                <a:srgbClr val="00206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200" dirty="0">
              <a:solidFill>
                <a:srgbClr val="0020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200" b="0" i="0" dirty="0">
              <a:solidFill>
                <a:srgbClr val="002060"/>
              </a:solidFill>
              <a:effectLst/>
              <a:latin typeface="Times New Roman" panose="02020603050405020304" pitchFamily="18" charset="0"/>
              <a:cs typeface="Times New Roman" panose="02020603050405020304" pitchFamily="18" charset="0"/>
            </a:endParaRPr>
          </a:p>
          <a:p>
            <a:pPr algn="just"/>
            <a:r>
              <a:rPr lang="en-US" sz="2200" b="1" i="0" dirty="0">
                <a:solidFill>
                  <a:srgbClr val="002060"/>
                </a:solidFill>
                <a:effectLst/>
                <a:latin typeface="Times New Roman" panose="02020603050405020304" pitchFamily="18" charset="0"/>
                <a:cs typeface="Times New Roman" panose="02020603050405020304" pitchFamily="18" charset="0"/>
              </a:rPr>
              <a:t>2. Working Principle:</a:t>
            </a:r>
            <a:endParaRPr lang="en-US" sz="2200" b="0" i="0" dirty="0">
              <a:solidFill>
                <a:srgbClr val="00206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b="1" i="0" dirty="0">
                <a:solidFill>
                  <a:srgbClr val="002060"/>
                </a:solidFill>
                <a:effectLst/>
                <a:latin typeface="Times New Roman" panose="02020603050405020304" pitchFamily="18" charset="0"/>
                <a:cs typeface="Times New Roman" panose="02020603050405020304" pitchFamily="18" charset="0"/>
              </a:rPr>
              <a:t>Sigmoid Function:</a:t>
            </a:r>
            <a:r>
              <a:rPr lang="en-US" sz="2200" b="0" i="0" dirty="0">
                <a:solidFill>
                  <a:srgbClr val="002060"/>
                </a:solidFill>
                <a:effectLst/>
                <a:latin typeface="Times New Roman" panose="02020603050405020304" pitchFamily="18" charset="0"/>
                <a:cs typeface="Times New Roman" panose="02020603050405020304" pitchFamily="18" charset="0"/>
              </a:rPr>
              <a:t> Logistic Regression uses the sigmoid (logistic) function to map any input into a value between 0 and 1, representing the probability of the input belonging to the positive class.</a:t>
            </a:r>
          </a:p>
          <a:p>
            <a:pPr algn="just">
              <a:buFont typeface="Arial" panose="020B0604020202020204" pitchFamily="34" charset="0"/>
              <a:buChar char="•"/>
            </a:pPr>
            <a:r>
              <a:rPr lang="en-US" sz="2200" b="1" i="0" dirty="0">
                <a:solidFill>
                  <a:srgbClr val="002060"/>
                </a:solidFill>
                <a:effectLst/>
                <a:latin typeface="Times New Roman" panose="02020603050405020304" pitchFamily="18" charset="0"/>
                <a:cs typeface="Times New Roman" panose="02020603050405020304" pitchFamily="18" charset="0"/>
              </a:rPr>
              <a:t>Log-Odds:</a:t>
            </a:r>
            <a:r>
              <a:rPr lang="en-US" sz="2200" b="0" i="0" dirty="0">
                <a:solidFill>
                  <a:srgbClr val="002060"/>
                </a:solidFill>
                <a:effectLst/>
                <a:latin typeface="Times New Roman" panose="02020603050405020304" pitchFamily="18" charset="0"/>
                <a:cs typeface="Times New Roman" panose="02020603050405020304" pitchFamily="18" charset="0"/>
              </a:rPr>
              <a:t> The algorithm models the log-odds of the probability as a linear combination of the predictor variables.</a:t>
            </a:r>
          </a:p>
          <a:p>
            <a:endParaRPr lang="en-IN" dirty="0"/>
          </a:p>
        </p:txBody>
      </p:sp>
      <p:pic>
        <p:nvPicPr>
          <p:cNvPr id="4" name="Picture 3">
            <a:extLst>
              <a:ext uri="{FF2B5EF4-FFF2-40B4-BE49-F238E27FC236}">
                <a16:creationId xmlns:a16="http://schemas.microsoft.com/office/drawing/2014/main" id="{F094C384-2ED3-DDA9-72A0-5225FA809F8F}"/>
              </a:ext>
            </a:extLst>
          </p:cNvPr>
          <p:cNvPicPr>
            <a:picLocks noChangeAspect="1"/>
          </p:cNvPicPr>
          <p:nvPr/>
        </p:nvPicPr>
        <p:blipFill>
          <a:blip r:embed="rId2"/>
          <a:stretch>
            <a:fillRect/>
          </a:stretch>
        </p:blipFill>
        <p:spPr>
          <a:xfrm>
            <a:off x="4632032" y="2447924"/>
            <a:ext cx="3429928" cy="2164716"/>
          </a:xfrm>
          <a:prstGeom prst="rect">
            <a:avLst/>
          </a:prstGeom>
        </p:spPr>
      </p:pic>
      <p:sp>
        <p:nvSpPr>
          <p:cNvPr id="3" name="TextBox 2">
            <a:extLst>
              <a:ext uri="{FF2B5EF4-FFF2-40B4-BE49-F238E27FC236}">
                <a16:creationId xmlns:a16="http://schemas.microsoft.com/office/drawing/2014/main" id="{8D2E2D6B-0A83-2B38-6CDC-A0942E24C000}"/>
              </a:ext>
            </a:extLst>
          </p:cNvPr>
          <p:cNvSpPr txBox="1"/>
          <p:nvPr/>
        </p:nvSpPr>
        <p:spPr>
          <a:xfrm>
            <a:off x="5201920" y="4612640"/>
            <a:ext cx="363728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LOGISTIC REGRESSION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902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624F-FCC5-2BC3-37E9-5C2371AA5E11}"/>
              </a:ext>
            </a:extLst>
          </p:cNvPr>
          <p:cNvSpPr>
            <a:spLocks noGrp="1"/>
          </p:cNvSpPr>
          <p:nvPr>
            <p:ph type="title"/>
          </p:nvPr>
        </p:nvSpPr>
        <p:spPr>
          <a:xfrm>
            <a:off x="1605280" y="300949"/>
            <a:ext cx="7863840" cy="391160"/>
          </a:xfrm>
        </p:spPr>
        <p:txBody>
          <a:bodyPr>
            <a:normAutofit fontScale="90000"/>
          </a:bodyPr>
          <a:lstStyle/>
          <a:p>
            <a:pPr marL="571500" indent="-571500">
              <a:buFont typeface="Wingdings" panose="05000000000000000000" pitchFamily="2" charset="2"/>
              <a:buChar char="q"/>
            </a:pPr>
            <a:r>
              <a:rPr lang="en-US" sz="4000" b="1" u="sng" dirty="0">
                <a:solidFill>
                  <a:srgbClr val="002060"/>
                </a:solidFill>
                <a:latin typeface="Times New Roman" panose="02020603050405020304" pitchFamily="18" charset="0"/>
                <a:cs typeface="Times New Roman" panose="02020603050405020304" pitchFamily="18" charset="0"/>
              </a:rPr>
              <a:t>CNN ARCHITECTURE:- </a:t>
            </a:r>
            <a:endParaRPr lang="en-IN" sz="4000" b="1" u="sng"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8D1E10C-4F22-984E-0F16-21990004DD18}"/>
              </a:ext>
            </a:extLst>
          </p:cNvPr>
          <p:cNvPicPr>
            <a:picLocks noChangeAspect="1"/>
          </p:cNvPicPr>
          <p:nvPr/>
        </p:nvPicPr>
        <p:blipFill>
          <a:blip r:embed="rId2"/>
          <a:stretch>
            <a:fillRect/>
          </a:stretch>
        </p:blipFill>
        <p:spPr>
          <a:xfrm>
            <a:off x="2346959" y="2132370"/>
            <a:ext cx="8427619" cy="4150361"/>
          </a:xfrm>
          <a:prstGeom prst="rect">
            <a:avLst/>
          </a:prstGeom>
        </p:spPr>
      </p:pic>
      <p:sp>
        <p:nvSpPr>
          <p:cNvPr id="3" name="TextBox 2">
            <a:extLst>
              <a:ext uri="{FF2B5EF4-FFF2-40B4-BE49-F238E27FC236}">
                <a16:creationId xmlns:a16="http://schemas.microsoft.com/office/drawing/2014/main" id="{DABC7B7F-070C-BAFB-B029-C1399904E1F9}"/>
              </a:ext>
            </a:extLst>
          </p:cNvPr>
          <p:cNvSpPr txBox="1"/>
          <p:nvPr/>
        </p:nvSpPr>
        <p:spPr>
          <a:xfrm>
            <a:off x="2024329" y="1120676"/>
            <a:ext cx="9072880" cy="2308324"/>
          </a:xfrm>
          <a:prstGeom prst="rect">
            <a:avLst/>
          </a:prstGeom>
          <a:noFill/>
        </p:spPr>
        <p:txBody>
          <a:bodyPr wrap="square" rtlCol="0">
            <a:spAutoFit/>
          </a:bodyPr>
          <a:lstStyle/>
          <a:p>
            <a:r>
              <a:rPr lang="en-US" b="1" i="0" dirty="0">
                <a:solidFill>
                  <a:srgbClr val="002060"/>
                </a:solidFill>
                <a:effectLst/>
                <a:latin typeface="Times New Roman" panose="02020603050405020304" pitchFamily="18" charset="0"/>
                <a:cs typeface="Times New Roman" panose="02020603050405020304" pitchFamily="18" charset="0"/>
              </a:rPr>
              <a:t>Convolutional Neural Networks (CNNs)</a:t>
            </a:r>
            <a:r>
              <a:rPr lang="en-US" b="0" i="0" dirty="0">
                <a:solidFill>
                  <a:srgbClr val="002060"/>
                </a:solidFill>
                <a:effectLst/>
                <a:latin typeface="Times New Roman" panose="02020603050405020304" pitchFamily="18" charset="0"/>
                <a:cs typeface="Times New Roman" panose="02020603050405020304" pitchFamily="18" charset="0"/>
              </a:rPr>
              <a:t> are a specialized class of neural networks designed to process grid-like data, such as images. They are particularly well-suited for image recognition and processing tasks.</a:t>
            </a:r>
          </a:p>
          <a:p>
            <a:endParaRPr lang="en-US" dirty="0">
              <a:solidFill>
                <a:srgbClr val="002060"/>
              </a:solidFill>
              <a:latin typeface="Times New Roman" panose="02020603050405020304" pitchFamily="18" charset="0"/>
              <a:cs typeface="Times New Roman" panose="02020603050405020304" pitchFamily="18" charset="0"/>
            </a:endParaRPr>
          </a:p>
          <a:p>
            <a:endParaRPr lang="en-US" dirty="0">
              <a:solidFill>
                <a:srgbClr val="002060"/>
              </a:solidFill>
              <a:latin typeface="Times New Roman" panose="02020603050405020304" pitchFamily="18" charset="0"/>
              <a:cs typeface="Times New Roman" panose="02020603050405020304" pitchFamily="18" charset="0"/>
            </a:endParaRPr>
          </a:p>
          <a:p>
            <a:endParaRPr lang="en-US" dirty="0">
              <a:solidFill>
                <a:srgbClr val="002060"/>
              </a:solidFill>
              <a:latin typeface="Times New Roman" panose="02020603050405020304" pitchFamily="18" charset="0"/>
              <a:cs typeface="Times New Roman" panose="02020603050405020304" pitchFamily="18" charset="0"/>
            </a:endParaRPr>
          </a:p>
          <a:p>
            <a:endParaRPr lang="en-US" dirty="0">
              <a:solidFill>
                <a:srgbClr val="002060"/>
              </a:solidFill>
              <a:latin typeface="Times New Roman" panose="02020603050405020304" pitchFamily="18" charset="0"/>
              <a:cs typeface="Times New Roman" panose="02020603050405020304" pitchFamily="18" charset="0"/>
            </a:endParaRPr>
          </a:p>
          <a:p>
            <a:endParaRPr lang="en-IN"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2C437E-DC1A-0294-C1F3-8CD2E10BB762}"/>
              </a:ext>
            </a:extLst>
          </p:cNvPr>
          <p:cNvSpPr txBox="1"/>
          <p:nvPr/>
        </p:nvSpPr>
        <p:spPr>
          <a:xfrm>
            <a:off x="6156960" y="6378991"/>
            <a:ext cx="308864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CNN MODEL</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246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6D0D3CFB-0F0B-95A6-6407-D620AC331375}"/>
              </a:ext>
            </a:extLst>
          </p:cNvPr>
          <p:cNvSpPr>
            <a:spLocks noChangeArrowheads="1"/>
          </p:cNvSpPr>
          <p:nvPr/>
        </p:nvSpPr>
        <p:spPr bwMode="auto">
          <a:xfrm>
            <a:off x="1493520" y="687190"/>
            <a:ext cx="1032256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Layer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Receives an image (e.g., 224x224 pixels, RGB or grayscale).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 Operation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Slides a filter (kernel) over the image to detect patterns like edges or textures.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Map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Result of convolution; shows where patterns occur.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Filters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 uses several filters to detect different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ReLU</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(Rectified Linear Unit)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Removes negative values to keep only meaningful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Pooling Layer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the size of the feature map while keeping essential info (e.g., max pooling takes the largest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Dropout (optional)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Randomly removes some neurons during training to avoid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Flatten Layer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Converts the pooled feature map into a single long vector.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Fully Connected Layers (Dense Layers)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all features to make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Softmax</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/Sigmoid Activation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Converts final output to probabilities (e.g., tumor probability).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Backpropagation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Adjusts filters and weights using loss value to improve accuracy.</a:t>
            </a:r>
          </a:p>
        </p:txBody>
      </p:sp>
    </p:spTree>
    <p:extLst>
      <p:ext uri="{BB962C8B-B14F-4D97-AF65-F5344CB8AC3E}">
        <p14:creationId xmlns:p14="http://schemas.microsoft.com/office/powerpoint/2010/main" val="895075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328B-8B99-3937-5FC9-513EDD00EBB9}"/>
              </a:ext>
            </a:extLst>
          </p:cNvPr>
          <p:cNvSpPr>
            <a:spLocks noGrp="1"/>
          </p:cNvSpPr>
          <p:nvPr>
            <p:ph type="title"/>
          </p:nvPr>
        </p:nvSpPr>
        <p:spPr>
          <a:xfrm>
            <a:off x="901700" y="241300"/>
            <a:ext cx="7531100" cy="838200"/>
          </a:xfrm>
        </p:spPr>
        <p:txBody>
          <a:bodyPr>
            <a:normAutofit/>
          </a:bodyPr>
          <a:lstStyle/>
          <a:p>
            <a:pPr marL="571500" indent="-571500">
              <a:buFont typeface="Wingdings" panose="05000000000000000000" pitchFamily="2" charset="2"/>
              <a:buChar char="q"/>
            </a:pPr>
            <a:r>
              <a:rPr lang="en-US" sz="4000" b="1" u="sng" dirty="0">
                <a:solidFill>
                  <a:srgbClr val="002060"/>
                </a:solidFill>
                <a:latin typeface="Times New Roman" panose="02020603050405020304" pitchFamily="18" charset="0"/>
                <a:cs typeface="Times New Roman" panose="02020603050405020304" pitchFamily="18" charset="0"/>
              </a:rPr>
              <a:t>VGG-16 ARCHITECTURE </a:t>
            </a:r>
            <a:endParaRPr lang="en-IN" sz="4000" b="1" u="sng"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914D40F-2D02-2C11-2B6C-6BE3A17B60D7}"/>
              </a:ext>
            </a:extLst>
          </p:cNvPr>
          <p:cNvPicPr>
            <a:picLocks noChangeAspect="1"/>
          </p:cNvPicPr>
          <p:nvPr/>
        </p:nvPicPr>
        <p:blipFill>
          <a:blip r:embed="rId2"/>
          <a:stretch>
            <a:fillRect/>
          </a:stretch>
        </p:blipFill>
        <p:spPr>
          <a:xfrm>
            <a:off x="2209801" y="2787918"/>
            <a:ext cx="7256150" cy="2933272"/>
          </a:xfrm>
          <a:prstGeom prst="rect">
            <a:avLst/>
          </a:prstGeom>
        </p:spPr>
      </p:pic>
      <p:sp>
        <p:nvSpPr>
          <p:cNvPr id="9" name="TextBox 8">
            <a:extLst>
              <a:ext uri="{FF2B5EF4-FFF2-40B4-BE49-F238E27FC236}">
                <a16:creationId xmlns:a16="http://schemas.microsoft.com/office/drawing/2014/main" id="{534F53EC-1759-6E4F-8F59-905E551B33DE}"/>
              </a:ext>
            </a:extLst>
          </p:cNvPr>
          <p:cNvSpPr txBox="1"/>
          <p:nvPr/>
        </p:nvSpPr>
        <p:spPr>
          <a:xfrm>
            <a:off x="1540042" y="1079500"/>
            <a:ext cx="9606013" cy="2185214"/>
          </a:xfrm>
          <a:prstGeom prst="rect">
            <a:avLst/>
          </a:prstGeom>
          <a:noFill/>
        </p:spPr>
        <p:txBody>
          <a:bodyPr wrap="square" rtlCol="0">
            <a:spAutoFit/>
          </a:bodyPr>
          <a:lstStyle/>
          <a:p>
            <a:r>
              <a:rPr lang="en-US" sz="2000" b="0" i="0" dirty="0">
                <a:solidFill>
                  <a:srgbClr val="002060"/>
                </a:solidFill>
                <a:effectLst/>
                <a:latin typeface="Times New Roman" panose="02020603050405020304" pitchFamily="18" charset="0"/>
                <a:cs typeface="Times New Roman" panose="02020603050405020304" pitchFamily="18" charset="0"/>
              </a:rPr>
              <a:t>The VGG-16 model is a convolutional neural network (CNN) architecture</a:t>
            </a:r>
          </a:p>
          <a:p>
            <a:r>
              <a:rPr lang="en-US" sz="2000" b="0" i="0" dirty="0">
                <a:solidFill>
                  <a:srgbClr val="002060"/>
                </a:solidFill>
                <a:effectLst/>
                <a:latin typeface="Times New Roman" panose="02020603050405020304" pitchFamily="18" charset="0"/>
                <a:cs typeface="Times New Roman" panose="02020603050405020304" pitchFamily="18" charset="0"/>
              </a:rPr>
              <a:t>consisting of 16 layers, including 13 convolutional layers and 3 fully connected layers. VGG-16 is renowned for its simplicity and effectiveness, as well as its ability to achieve strong performance on various computer vision tasks, including image classification and object recognition.</a:t>
            </a:r>
            <a:endParaRPr lang="en-US" sz="2000" dirty="0">
              <a:solidFill>
                <a:srgbClr val="002060"/>
              </a:solidFill>
              <a:latin typeface="Times New Roman" panose="02020603050405020304" pitchFamily="18" charset="0"/>
              <a:cs typeface="Times New Roman" panose="02020603050405020304" pitchFamily="18" charset="0"/>
            </a:endParaRPr>
          </a:p>
          <a:p>
            <a:endParaRPr lang="en-US" b="0" i="0" dirty="0">
              <a:solidFill>
                <a:srgbClr val="002060"/>
              </a:solidFill>
              <a:effectLst/>
              <a:latin typeface="Nunito" pitchFamily="2" charset="0"/>
            </a:endParaRPr>
          </a:p>
          <a:p>
            <a:r>
              <a:rPr lang="en-US" b="0" i="0" dirty="0">
                <a:solidFill>
                  <a:srgbClr val="002060"/>
                </a:solidFill>
                <a:effectLst/>
                <a:latin typeface="Nunito" pitchFamily="2" charset="0"/>
              </a:rPr>
              <a:t> </a:t>
            </a:r>
            <a:endParaRPr lang="en-IN" dirty="0">
              <a:solidFill>
                <a:srgbClr val="002060"/>
              </a:solidFill>
            </a:endParaRPr>
          </a:p>
        </p:txBody>
      </p:sp>
      <p:sp>
        <p:nvSpPr>
          <p:cNvPr id="3" name="TextBox 2">
            <a:extLst>
              <a:ext uri="{FF2B5EF4-FFF2-40B4-BE49-F238E27FC236}">
                <a16:creationId xmlns:a16="http://schemas.microsoft.com/office/drawing/2014/main" id="{8673E938-EBDB-DBF2-4DD6-C5F3ADCA423D}"/>
              </a:ext>
            </a:extLst>
          </p:cNvPr>
          <p:cNvSpPr txBox="1"/>
          <p:nvPr/>
        </p:nvSpPr>
        <p:spPr>
          <a:xfrm>
            <a:off x="5384800" y="6002774"/>
            <a:ext cx="3759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VGG-16 MODEL</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C44041C-B8F5-CA1B-63DE-C854EAD8F90F}"/>
              </a:ext>
            </a:extLst>
          </p:cNvPr>
          <p:cNvSpPr txBox="1"/>
          <p:nvPr/>
        </p:nvSpPr>
        <p:spPr>
          <a:xfrm>
            <a:off x="9873343" y="2993571"/>
            <a:ext cx="2318657"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Convolution layer</a:t>
            </a:r>
          </a:p>
          <a:p>
            <a:r>
              <a:rPr lang="en-US" dirty="0"/>
              <a:t>{ filter size=3*3</a:t>
            </a:r>
          </a:p>
          <a:p>
            <a:r>
              <a:rPr lang="en-US" dirty="0"/>
              <a:t>Stride =1</a:t>
            </a:r>
          </a:p>
          <a:p>
            <a:r>
              <a:rPr lang="en-US" dirty="0"/>
              <a:t>Padding=same}</a:t>
            </a:r>
            <a:endParaRPr lang="en-IN" dirty="0"/>
          </a:p>
        </p:txBody>
      </p:sp>
      <p:sp>
        <p:nvSpPr>
          <p:cNvPr id="5" name="TextBox 4">
            <a:extLst>
              <a:ext uri="{FF2B5EF4-FFF2-40B4-BE49-F238E27FC236}">
                <a16:creationId xmlns:a16="http://schemas.microsoft.com/office/drawing/2014/main" id="{0773329E-AD5C-4591-2DD1-42F2A1773C95}"/>
              </a:ext>
            </a:extLst>
          </p:cNvPr>
          <p:cNvSpPr txBox="1"/>
          <p:nvPr/>
        </p:nvSpPr>
        <p:spPr>
          <a:xfrm>
            <a:off x="9873343" y="4539343"/>
            <a:ext cx="2068286" cy="1477328"/>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MaxPooling</a:t>
            </a:r>
            <a:r>
              <a:rPr lang="en-US" b="1" dirty="0">
                <a:latin typeface="Times New Roman" panose="02020603050405020304" pitchFamily="18" charset="0"/>
                <a:cs typeface="Times New Roman" panose="02020603050405020304" pitchFamily="18" charset="0"/>
              </a:rPr>
              <a:t> layer</a:t>
            </a:r>
          </a:p>
          <a:p>
            <a:r>
              <a:rPr lang="en-US" dirty="0"/>
              <a:t>{ filter size=2*2</a:t>
            </a:r>
          </a:p>
          <a:p>
            <a:r>
              <a:rPr lang="en-US" dirty="0"/>
              <a:t>Stride =2 }</a:t>
            </a:r>
            <a:endParaRPr lang="en-IN" dirty="0"/>
          </a:p>
          <a:p>
            <a:endParaRPr lang="en-US" dirty="0"/>
          </a:p>
          <a:p>
            <a:endParaRPr lang="en-IN" dirty="0"/>
          </a:p>
        </p:txBody>
      </p:sp>
      <p:sp>
        <p:nvSpPr>
          <p:cNvPr id="7" name="TextBox 6">
            <a:extLst>
              <a:ext uri="{FF2B5EF4-FFF2-40B4-BE49-F238E27FC236}">
                <a16:creationId xmlns:a16="http://schemas.microsoft.com/office/drawing/2014/main" id="{4D490D88-A8EC-7547-375C-24227F0F0FEB}"/>
              </a:ext>
            </a:extLst>
          </p:cNvPr>
          <p:cNvSpPr txBox="1"/>
          <p:nvPr/>
        </p:nvSpPr>
        <p:spPr>
          <a:xfrm>
            <a:off x="8659599" y="5738639"/>
            <a:ext cx="3759200" cy="73866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Formula </a:t>
            </a:r>
          </a:p>
          <a:p>
            <a:r>
              <a:rPr lang="en-US" sz="2400" dirty="0">
                <a:latin typeface="Times New Roman" panose="02020603050405020304" pitchFamily="18" charset="0"/>
                <a:cs typeface="Times New Roman" panose="02020603050405020304" pitchFamily="18" charset="0"/>
              </a:rPr>
              <a:t>Output Size=[sn+2p−f​]+1</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7248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B155-88AD-D87A-BBF5-99C37627F816}"/>
              </a:ext>
            </a:extLst>
          </p:cNvPr>
          <p:cNvSpPr>
            <a:spLocks noGrp="1"/>
          </p:cNvSpPr>
          <p:nvPr>
            <p:ph type="title"/>
          </p:nvPr>
        </p:nvSpPr>
        <p:spPr>
          <a:xfrm>
            <a:off x="897421" y="264850"/>
            <a:ext cx="9601200" cy="1485900"/>
          </a:xfrm>
        </p:spPr>
        <p:txBody>
          <a:bodyPr>
            <a:normAutofit/>
          </a:bodyPr>
          <a:lstStyle/>
          <a:p>
            <a:pPr marL="571500" indent="-571500">
              <a:buFont typeface="Wingdings" panose="05000000000000000000" pitchFamily="2" charset="2"/>
              <a:buChar char="q"/>
            </a:pPr>
            <a:r>
              <a:rPr lang="en-US" sz="4200" u="sng" dirty="0">
                <a:solidFill>
                  <a:srgbClr val="002060"/>
                </a:solidFill>
                <a:latin typeface="Times New Roman" panose="02020603050405020304" pitchFamily="18" charset="0"/>
                <a:cs typeface="Times New Roman" panose="02020603050405020304" pitchFamily="18" charset="0"/>
              </a:rPr>
              <a:t>WORKING OF VGG-16 </a:t>
            </a:r>
            <a:endParaRPr lang="en-IN" sz="4200" u="sng"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80B71CB-9E38-7216-52B0-19CD185A6FF6}"/>
              </a:ext>
            </a:extLst>
          </p:cNvPr>
          <p:cNvSpPr txBox="1"/>
          <p:nvPr/>
        </p:nvSpPr>
        <p:spPr>
          <a:xfrm>
            <a:off x="2704065" y="7571463"/>
            <a:ext cx="7491132" cy="4593736"/>
          </a:xfrm>
          <a:prstGeom prst="rect">
            <a:avLst/>
          </a:prstGeom>
          <a:noFill/>
        </p:spPr>
        <p:txBody>
          <a:bodyPr wrap="square" rtlCol="0">
            <a:spAutoFit/>
          </a:bodyPr>
          <a:lstStyle/>
          <a:p>
            <a:endParaRPr lang="en-IN" dirty="0"/>
          </a:p>
        </p:txBody>
      </p:sp>
      <p:sp>
        <p:nvSpPr>
          <p:cNvPr id="4" name="Rectangle 1">
            <a:extLst>
              <a:ext uri="{FF2B5EF4-FFF2-40B4-BE49-F238E27FC236}">
                <a16:creationId xmlns:a16="http://schemas.microsoft.com/office/drawing/2014/main" id="{5CA6BDDE-FE94-A229-DEDC-644820BC9EEC}"/>
              </a:ext>
            </a:extLst>
          </p:cNvPr>
          <p:cNvSpPr>
            <a:spLocks noChangeArrowheads="1"/>
          </p:cNvSpPr>
          <p:nvPr/>
        </p:nvSpPr>
        <p:spPr bwMode="auto">
          <a:xfrm>
            <a:off x="1003299" y="868904"/>
            <a:ext cx="10744201"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panose="020B0604020202020204" pitchFamily="34" charset="0"/>
              </a:rPr>
              <a:t>Input Layer</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Takes an image of size 224×224×3 (RGB image).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panose="020B0604020202020204" pitchFamily="34" charset="0"/>
              </a:rPr>
              <a:t>Convolutional Layers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700" dirty="0">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panose="020B0604020202020204" pitchFamily="34" charset="0"/>
              </a:rPr>
              <a:t>Uses 3×3 filters to scan the image.</a:t>
            </a:r>
          </a:p>
          <a:p>
            <a:pPr marL="0" marR="0" lvl="0" indent="0" algn="l" defTabSz="914400" rtl="0" eaLnBrk="0" fontAlgn="base" latinLnBrk="0" hangingPunct="0">
              <a:lnSpc>
                <a:spcPct val="100000"/>
              </a:lnSpc>
              <a:spcBef>
                <a:spcPct val="0"/>
              </a:spcBef>
              <a:spcAft>
                <a:spcPct val="0"/>
              </a:spcAft>
              <a:buClrTx/>
              <a:buSzTx/>
              <a:tabLst/>
            </a:pPr>
            <a:r>
              <a:rPr lang="en-US" altLang="en-US" sz="1700" dirty="0">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panose="020B0604020202020204" pitchFamily="34" charset="0"/>
              </a:rPr>
              <a:t>Detects low-level (edges, textures) and high-level features (shapes, objects).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Total of 13 convolution layers.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err="1">
                <a:ln>
                  <a:noFill/>
                </a:ln>
                <a:solidFill>
                  <a:schemeClr val="tx1"/>
                </a:solidFill>
                <a:effectLst/>
                <a:latin typeface="Arial" panose="020B0604020202020204" pitchFamily="34" charset="0"/>
              </a:rPr>
              <a:t>ReLU</a:t>
            </a:r>
            <a:r>
              <a:rPr kumimoji="0" lang="en-US" altLang="en-US" sz="1700" b="1" i="0" u="none" strike="noStrike" cap="none" normalizeH="0" baseline="0" dirty="0">
                <a:ln>
                  <a:noFill/>
                </a:ln>
                <a:solidFill>
                  <a:schemeClr val="tx1"/>
                </a:solidFill>
                <a:effectLst/>
                <a:latin typeface="Arial" panose="020B0604020202020204" pitchFamily="34" charset="0"/>
              </a:rPr>
              <a:t> Activation</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Adds non-linearity.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Replaces negative values with zero.</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panose="020B0604020202020204" pitchFamily="34" charset="0"/>
              </a:rPr>
              <a:t>Max Pooling Layers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Reduces image size (2×2 filter, stride 2).</a:t>
            </a: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Keeps important information, makes the model faster.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5 pooling layers in total.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panose="020B0604020202020204" pitchFamily="34" charset="0"/>
              </a:rPr>
              <a:t>Flatten Layer</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Converts 2D data to 1D for input to fully connected layers.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panose="020B0604020202020204" pitchFamily="34" charset="0"/>
              </a:rPr>
              <a:t>Fully Connected Layers (Dense Layers)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700" dirty="0">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panose="020B0604020202020204" pitchFamily="34" charset="0"/>
              </a:rPr>
              <a:t>layers with 4096 neurons each.</a:t>
            </a:r>
          </a:p>
          <a:p>
            <a:pPr marL="0" marR="0" lvl="0" indent="0" algn="l" defTabSz="914400" rtl="0" eaLnBrk="0" fontAlgn="base" latinLnBrk="0" hangingPunct="0">
              <a:lnSpc>
                <a:spcPct val="100000"/>
              </a:lnSpc>
              <a:spcBef>
                <a:spcPct val="0"/>
              </a:spcBef>
              <a:spcAft>
                <a:spcPct val="0"/>
              </a:spcAft>
              <a:buClrTx/>
              <a:buSzTx/>
              <a:tabLst/>
            </a:pPr>
            <a:r>
              <a:rPr lang="en-US" altLang="en-US" sz="1700" dirty="0">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panose="020B0604020202020204" pitchFamily="34" charset="0"/>
              </a:rPr>
              <a:t>   Learns to combine features for final decision.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panose="020B0604020202020204" pitchFamily="34" charset="0"/>
              </a:rPr>
              <a:t>Output Layer (</a:t>
            </a:r>
            <a:r>
              <a:rPr kumimoji="0" lang="en-US" altLang="en-US" sz="1700" b="1" i="0" u="none" strike="noStrike" cap="none" normalizeH="0" baseline="0" dirty="0" err="1">
                <a:ln>
                  <a:noFill/>
                </a:ln>
                <a:solidFill>
                  <a:schemeClr val="tx1"/>
                </a:solidFill>
                <a:effectLst/>
                <a:latin typeface="Arial" panose="020B0604020202020204" pitchFamily="34" charset="0"/>
              </a:rPr>
              <a:t>Softmax</a:t>
            </a:r>
            <a:r>
              <a:rPr kumimoji="0" lang="en-US" altLang="en-US" sz="1700" b="1" i="0" u="none" strike="noStrike" cap="none" normalizeH="0" baseline="0" dirty="0">
                <a:ln>
                  <a:noFill/>
                </a:ln>
                <a:solidFill>
                  <a:schemeClr val="tx1"/>
                </a:solidFill>
                <a:effectLst/>
                <a:latin typeface="Arial" panose="020B0604020202020204" pitchFamily="34" charset="0"/>
              </a:rPr>
              <a:t>)</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     Final layer with 1000 neurons (or fewer for specific tasks).</a:t>
            </a:r>
          </a:p>
          <a:p>
            <a:pPr marL="0" marR="0" lvl="0" indent="0" algn="l" defTabSz="914400" rtl="0" eaLnBrk="0" fontAlgn="base" latinLnBrk="0" hangingPunct="0">
              <a:lnSpc>
                <a:spcPct val="100000"/>
              </a:lnSpc>
              <a:spcBef>
                <a:spcPct val="0"/>
              </a:spcBef>
              <a:spcAft>
                <a:spcPct val="0"/>
              </a:spcAft>
              <a:buClrTx/>
              <a:buSzTx/>
              <a:tabLst/>
            </a:pPr>
            <a:r>
              <a:rPr lang="en-US" altLang="en-US" sz="1700" dirty="0">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panose="020B0604020202020204" pitchFamily="34" charset="0"/>
              </a:rPr>
              <a:t>Gives probability for each 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7908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F32B-2F42-A931-CBB4-FC149602FA32}"/>
              </a:ext>
            </a:extLst>
          </p:cNvPr>
          <p:cNvSpPr>
            <a:spLocks noGrp="1"/>
          </p:cNvSpPr>
          <p:nvPr>
            <p:ph type="title"/>
          </p:nvPr>
        </p:nvSpPr>
        <p:spPr>
          <a:xfrm>
            <a:off x="1099226" y="296079"/>
            <a:ext cx="5149174" cy="792804"/>
          </a:xfrm>
        </p:spPr>
        <p:txBody>
          <a:bodyPr>
            <a:normAutofit/>
          </a:bodyPr>
          <a:lstStyle/>
          <a:p>
            <a:pPr marL="571500" indent="-571500">
              <a:buFont typeface="Wingdings" panose="05000000000000000000" pitchFamily="2" charset="2"/>
              <a:buChar char="q"/>
            </a:pPr>
            <a:r>
              <a:rPr lang="en-US" b="1" u="sng" dirty="0">
                <a:solidFill>
                  <a:srgbClr val="002060"/>
                </a:solidFill>
                <a:latin typeface="Times New Roman" panose="02020603050405020304" pitchFamily="18" charset="0"/>
                <a:cs typeface="Times New Roman" panose="02020603050405020304" pitchFamily="18" charset="0"/>
              </a:rPr>
              <a:t>WORKFLOW</a:t>
            </a:r>
            <a:r>
              <a:rPr lang="en-US" b="1" u="sng" dirty="0">
                <a:latin typeface="Times New Roman" panose="02020603050405020304" pitchFamily="18" charset="0"/>
                <a:cs typeface="Times New Roman" panose="02020603050405020304" pitchFamily="18" charset="0"/>
              </a:rPr>
              <a:t> </a:t>
            </a:r>
            <a:endParaRPr lang="en-IN" b="1"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710D288-0F95-14A7-63C9-F5DB5683EE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20782" y="2289212"/>
            <a:ext cx="7716170" cy="4340239"/>
          </a:xfrm>
          <a:prstGeom prst="rect">
            <a:avLst/>
          </a:prstGeom>
        </p:spPr>
      </p:pic>
      <p:sp>
        <p:nvSpPr>
          <p:cNvPr id="4" name="TextBox 3">
            <a:extLst>
              <a:ext uri="{FF2B5EF4-FFF2-40B4-BE49-F238E27FC236}">
                <a16:creationId xmlns:a16="http://schemas.microsoft.com/office/drawing/2014/main" id="{1CABCBCC-AEA7-7D44-F1B5-3DF14B066814}"/>
              </a:ext>
            </a:extLst>
          </p:cNvPr>
          <p:cNvSpPr txBox="1"/>
          <p:nvPr/>
        </p:nvSpPr>
        <p:spPr>
          <a:xfrm>
            <a:off x="1944303" y="1088883"/>
            <a:ext cx="9269129" cy="1200329"/>
          </a:xfrm>
          <a:prstGeom prst="rect">
            <a:avLst/>
          </a:prstGeom>
          <a:noFill/>
        </p:spPr>
        <p:txBody>
          <a:bodyPr wrap="square" rtlCol="0">
            <a:spAutoFit/>
          </a:bodyPr>
          <a:lstStyle/>
          <a:p>
            <a:r>
              <a:rPr lang="en-IN" kern="100" dirty="0">
                <a:solidFill>
                  <a:srgbClr val="002060"/>
                </a:solidFill>
                <a:effectLst/>
                <a:latin typeface="Times New Roman" panose="02020603050405020304" pitchFamily="18" charset="0"/>
                <a:ea typeface="Calibri" panose="020F0502020204030204" pitchFamily="34" charset="0"/>
              </a:rPr>
              <a:t>The proposed system for brain </a:t>
            </a:r>
            <a:r>
              <a:rPr lang="en-IN" kern="100" dirty="0" err="1">
                <a:solidFill>
                  <a:srgbClr val="002060"/>
                </a:solidFill>
                <a:effectLst/>
                <a:latin typeface="Times New Roman" panose="02020603050405020304" pitchFamily="18" charset="0"/>
                <a:ea typeface="Calibri" panose="020F0502020204030204" pitchFamily="34" charset="0"/>
              </a:rPr>
              <a:t>tumor</a:t>
            </a:r>
            <a:r>
              <a:rPr lang="en-IN" kern="100" dirty="0">
                <a:solidFill>
                  <a:srgbClr val="002060"/>
                </a:solidFill>
                <a:effectLst/>
                <a:latin typeface="Times New Roman" panose="02020603050405020304" pitchFamily="18" charset="0"/>
                <a:ea typeface="Calibri" panose="020F0502020204030204" pitchFamily="34" charset="0"/>
              </a:rPr>
              <a:t> classification using deep learning and image processing techniques follows a structured workflow divided into several key stages. Each stage contributes critically to the overall performance and accuracy of the model. The following outlines the step-by-step process illustrated in the workflow diagram</a:t>
            </a:r>
            <a:r>
              <a:rPr lang="en-IN" kern="100" dirty="0">
                <a:solidFill>
                  <a:srgbClr val="002060"/>
                </a:solidFill>
                <a:latin typeface="Times New Roman" panose="02020603050405020304" pitchFamily="18" charset="0"/>
                <a:ea typeface="Calibri" panose="020F0502020204030204" pitchFamily="34" charset="0"/>
              </a:rPr>
              <a:t>:-</a:t>
            </a:r>
            <a:endParaRPr lang="en-IN" dirty="0">
              <a:solidFill>
                <a:srgbClr val="002060"/>
              </a:solidFill>
            </a:endParaRPr>
          </a:p>
        </p:txBody>
      </p:sp>
    </p:spTree>
    <p:extLst>
      <p:ext uri="{BB962C8B-B14F-4D97-AF65-F5344CB8AC3E}">
        <p14:creationId xmlns:p14="http://schemas.microsoft.com/office/powerpoint/2010/main" val="3607097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51F65-CBAC-99CC-63E7-57B3102B8952}"/>
              </a:ext>
            </a:extLst>
          </p:cNvPr>
          <p:cNvSpPr>
            <a:spLocks noGrp="1"/>
          </p:cNvSpPr>
          <p:nvPr>
            <p:ph type="title"/>
          </p:nvPr>
        </p:nvSpPr>
        <p:spPr>
          <a:xfrm>
            <a:off x="1371600" y="685800"/>
            <a:ext cx="3797300" cy="977900"/>
          </a:xfrm>
        </p:spPr>
        <p:txBody>
          <a:bodyPr>
            <a:normAutofit/>
          </a:bodyPr>
          <a:lstStyle/>
          <a:p>
            <a:pPr marL="571500" indent="-571500">
              <a:buFont typeface="Wingdings" panose="05000000000000000000" pitchFamily="2" charset="2"/>
              <a:buChar char="q"/>
            </a:pPr>
            <a:r>
              <a:rPr lang="en-US" sz="4000" b="1" u="sng" dirty="0">
                <a:solidFill>
                  <a:srgbClr val="002060"/>
                </a:solidFill>
                <a:latin typeface="Times New Roman" panose="02020603050405020304" pitchFamily="18" charset="0"/>
                <a:cs typeface="Times New Roman" panose="02020603050405020304" pitchFamily="18" charset="0"/>
              </a:rPr>
              <a:t>DATASET</a:t>
            </a:r>
            <a:endParaRPr lang="en-IN" sz="4000" b="1" u="sng"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CAF0AD2-9A8C-557B-A017-1F52EB1B8E85}"/>
              </a:ext>
            </a:extLst>
          </p:cNvPr>
          <p:cNvGraphicFramePr>
            <a:graphicFrameLocks noGrp="1"/>
          </p:cNvGraphicFramePr>
          <p:nvPr>
            <p:extLst>
              <p:ext uri="{D42A27DB-BD31-4B8C-83A1-F6EECF244321}">
                <p14:modId xmlns:p14="http://schemas.microsoft.com/office/powerpoint/2010/main" val="2097345774"/>
              </p:ext>
            </p:extLst>
          </p:nvPr>
        </p:nvGraphicFramePr>
        <p:xfrm>
          <a:off x="1244600" y="1663700"/>
          <a:ext cx="10439400" cy="1595967"/>
        </p:xfrm>
        <a:graphic>
          <a:graphicData uri="http://schemas.openxmlformats.org/drawingml/2006/table">
            <a:tbl>
              <a:tblPr firstRow="1" bandRow="1">
                <a:tableStyleId>{5940675A-B579-460E-94D1-54222C63F5DA}</a:tableStyleId>
              </a:tblPr>
              <a:tblGrid>
                <a:gridCol w="1739900">
                  <a:extLst>
                    <a:ext uri="{9D8B030D-6E8A-4147-A177-3AD203B41FA5}">
                      <a16:colId xmlns:a16="http://schemas.microsoft.com/office/drawing/2014/main" val="3325853326"/>
                    </a:ext>
                  </a:extLst>
                </a:gridCol>
                <a:gridCol w="1739900">
                  <a:extLst>
                    <a:ext uri="{9D8B030D-6E8A-4147-A177-3AD203B41FA5}">
                      <a16:colId xmlns:a16="http://schemas.microsoft.com/office/drawing/2014/main" val="2228784810"/>
                    </a:ext>
                  </a:extLst>
                </a:gridCol>
                <a:gridCol w="1003300">
                  <a:extLst>
                    <a:ext uri="{9D8B030D-6E8A-4147-A177-3AD203B41FA5}">
                      <a16:colId xmlns:a16="http://schemas.microsoft.com/office/drawing/2014/main" val="1496745916"/>
                    </a:ext>
                  </a:extLst>
                </a:gridCol>
                <a:gridCol w="2476500">
                  <a:extLst>
                    <a:ext uri="{9D8B030D-6E8A-4147-A177-3AD203B41FA5}">
                      <a16:colId xmlns:a16="http://schemas.microsoft.com/office/drawing/2014/main" val="1291042852"/>
                    </a:ext>
                  </a:extLst>
                </a:gridCol>
                <a:gridCol w="1739900">
                  <a:extLst>
                    <a:ext uri="{9D8B030D-6E8A-4147-A177-3AD203B41FA5}">
                      <a16:colId xmlns:a16="http://schemas.microsoft.com/office/drawing/2014/main" val="2440673238"/>
                    </a:ext>
                  </a:extLst>
                </a:gridCol>
                <a:gridCol w="1739900">
                  <a:extLst>
                    <a:ext uri="{9D8B030D-6E8A-4147-A177-3AD203B41FA5}">
                      <a16:colId xmlns:a16="http://schemas.microsoft.com/office/drawing/2014/main" val="3151285722"/>
                    </a:ext>
                  </a:extLst>
                </a:gridCol>
              </a:tblGrid>
              <a:tr h="681567">
                <a:tc>
                  <a:txBody>
                    <a:bodyPr/>
                    <a:lstStyle/>
                    <a:p>
                      <a:pPr algn="ctr"/>
                      <a:r>
                        <a:rPr lang="en-US" dirty="0">
                          <a:latin typeface="Times New Roman" panose="02020603050405020304" pitchFamily="18" charset="0"/>
                          <a:cs typeface="Times New Roman" panose="02020603050405020304" pitchFamily="18" charset="0"/>
                        </a:rPr>
                        <a:t>Total Dataset</a:t>
                      </a:r>
                    </a:p>
                  </a:txBody>
                  <a:tcPr/>
                </a:tc>
                <a:tc>
                  <a:txBody>
                    <a:bodyPr/>
                    <a:lstStyle/>
                    <a:p>
                      <a:pPr algn="ctr"/>
                      <a:r>
                        <a:rPr lang="en-US" dirty="0">
                          <a:latin typeface="Times New Roman" panose="02020603050405020304" pitchFamily="18" charset="0"/>
                          <a:cs typeface="Times New Roman" panose="02020603050405020304" pitchFamily="18" charset="0"/>
                        </a:rPr>
                        <a:t>Total class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Split</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Training Dataset Without augmentation </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Training Data set after augmentation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Testing Dataset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387957"/>
                  </a:ext>
                </a:extLst>
              </a:tr>
              <a:tr h="681567">
                <a:tc>
                  <a:txBody>
                    <a:bodyPr/>
                    <a:lstStyle/>
                    <a:p>
                      <a:pPr algn="ctr"/>
                      <a:r>
                        <a:rPr lang="en-US" dirty="0">
                          <a:latin typeface="Times New Roman" panose="02020603050405020304" pitchFamily="18" charset="0"/>
                          <a:cs typeface="Times New Roman" panose="02020603050405020304" pitchFamily="18" charset="0"/>
                        </a:rPr>
                        <a:t>1222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8:2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977</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4523</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249</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0170561"/>
                  </a:ext>
                </a:extLst>
              </a:tr>
            </a:tbl>
          </a:graphicData>
        </a:graphic>
      </p:graphicFrame>
      <p:sp>
        <p:nvSpPr>
          <p:cNvPr id="5" name="TextBox 4">
            <a:extLst>
              <a:ext uri="{FF2B5EF4-FFF2-40B4-BE49-F238E27FC236}">
                <a16:creationId xmlns:a16="http://schemas.microsoft.com/office/drawing/2014/main" id="{FCBA7069-EAF3-B46B-733B-E3A4B4F057A7}"/>
              </a:ext>
            </a:extLst>
          </p:cNvPr>
          <p:cNvSpPr txBox="1"/>
          <p:nvPr/>
        </p:nvSpPr>
        <p:spPr>
          <a:xfrm>
            <a:off x="1651000" y="3771900"/>
            <a:ext cx="8356600" cy="1538883"/>
          </a:xfrm>
          <a:prstGeom prst="rect">
            <a:avLst/>
          </a:prstGeom>
          <a:noFill/>
        </p:spPr>
        <p:txBody>
          <a:bodyPr wrap="square" rtlCol="0">
            <a:spAutoFit/>
          </a:bodyPr>
          <a:lstStyle/>
          <a:p>
            <a:pPr marL="285750" indent="-285750">
              <a:buFont typeface="Wingdings" panose="05000000000000000000" pitchFamily="2" charset="2"/>
              <a:buChar char="v"/>
            </a:pPr>
            <a:r>
              <a:rPr lang="en-US" sz="2800" dirty="0">
                <a:solidFill>
                  <a:srgbClr val="002060"/>
                </a:solidFill>
                <a:latin typeface="Times New Roman" panose="02020603050405020304" pitchFamily="18" charset="0"/>
                <a:cs typeface="Times New Roman" panose="02020603050405020304" pitchFamily="18" charset="0"/>
              </a:rPr>
              <a:t>Datasets For Detection:</a:t>
            </a:r>
          </a:p>
          <a:p>
            <a:r>
              <a:rPr lang="en-US" sz="2200" dirty="0">
                <a:solidFill>
                  <a:srgbClr val="002060"/>
                </a:solidFill>
                <a:latin typeface="Times New Roman" panose="02020603050405020304" pitchFamily="18" charset="0"/>
                <a:cs typeface="Times New Roman" panose="02020603050405020304" pitchFamily="18" charset="0"/>
              </a:rPr>
              <a:t>         1. National Cancer Institute (.gov)</a:t>
            </a:r>
          </a:p>
          <a:p>
            <a:r>
              <a:rPr lang="en-US" sz="2200" dirty="0">
                <a:solidFill>
                  <a:srgbClr val="002060"/>
                </a:solidFill>
                <a:latin typeface="Times New Roman" panose="02020603050405020304" pitchFamily="18" charset="0"/>
                <a:cs typeface="Times New Roman" panose="02020603050405020304" pitchFamily="18" charset="0"/>
              </a:rPr>
              <a:t>         2.National Institute of Health (NIH)(.GOV)</a:t>
            </a:r>
          </a:p>
          <a:p>
            <a:r>
              <a:rPr lang="en-US" sz="2200" dirty="0">
                <a:solidFill>
                  <a:srgbClr val="002060"/>
                </a:solidFill>
                <a:latin typeface="Times New Roman" panose="02020603050405020304" pitchFamily="18" charset="0"/>
                <a:cs typeface="Times New Roman" panose="02020603050405020304" pitchFamily="18" charset="0"/>
              </a:rPr>
              <a:t>         3.The Cancer Imaging Archive</a:t>
            </a:r>
            <a:endParaRPr lang="en-IN"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67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33D3-6ABA-7B73-D641-4E8F4CCE767D}"/>
              </a:ext>
            </a:extLst>
          </p:cNvPr>
          <p:cNvSpPr>
            <a:spLocks noGrp="1"/>
          </p:cNvSpPr>
          <p:nvPr>
            <p:ph type="title"/>
          </p:nvPr>
        </p:nvSpPr>
        <p:spPr>
          <a:xfrm>
            <a:off x="889000" y="228600"/>
            <a:ext cx="9601200" cy="1485900"/>
          </a:xfrm>
        </p:spPr>
        <p:txBody>
          <a:bodyPr/>
          <a:lstStyle/>
          <a:p>
            <a:pPr marL="571500" indent="-571500">
              <a:buFont typeface="Wingdings" panose="05000000000000000000" pitchFamily="2" charset="2"/>
              <a:buChar char="q"/>
            </a:pPr>
            <a:r>
              <a:rPr lang="en-US" u="sng" dirty="0">
                <a:solidFill>
                  <a:srgbClr val="002060"/>
                </a:solidFill>
                <a:latin typeface="Times New Roman" panose="02020603050405020304" pitchFamily="18" charset="0"/>
                <a:cs typeface="Times New Roman" panose="02020603050405020304" pitchFamily="18" charset="0"/>
              </a:rPr>
              <a:t>DATA PREPROCESSING </a:t>
            </a:r>
            <a:endParaRPr lang="en-IN" u="sng"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89CE9CA-7867-C385-6FBA-4A22B9A31227}"/>
              </a:ext>
            </a:extLst>
          </p:cNvPr>
          <p:cNvSpPr txBox="1"/>
          <p:nvPr/>
        </p:nvSpPr>
        <p:spPr>
          <a:xfrm>
            <a:off x="1371600" y="1282700"/>
            <a:ext cx="9601200" cy="5083443"/>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RESIZING</a:t>
            </a:r>
          </a:p>
          <a:p>
            <a:pPr>
              <a:buNone/>
            </a:pPr>
            <a:r>
              <a:rPr lang="en-US" dirty="0">
                <a:latin typeface="Times New Roman" panose="02020603050405020304" pitchFamily="18" charset="0"/>
                <a:cs typeface="Times New Roman" panose="02020603050405020304" pitchFamily="18" charset="0"/>
              </a:rPr>
              <a:t>All MRI images were resized to a fixed dimension of </a:t>
            </a:r>
            <a:r>
              <a:rPr lang="en-US" b="1" dirty="0">
                <a:latin typeface="Times New Roman" panose="02020603050405020304" pitchFamily="18" charset="0"/>
                <a:cs typeface="Times New Roman" panose="02020603050405020304" pitchFamily="18" charset="0"/>
              </a:rPr>
              <a:t>224×224×3 pixels , </a:t>
            </a:r>
            <a:r>
              <a:rPr lang="en-US" dirty="0">
                <a:latin typeface="Times New Roman" panose="02020603050405020304" pitchFamily="18" charset="0"/>
                <a:cs typeface="Times New Roman" panose="02020603050405020304" pitchFamily="18" charset="0"/>
              </a:rPr>
              <a:t>Ensures uniform input size for the Model Implementation.</a:t>
            </a:r>
          </a:p>
          <a:p>
            <a:pPr>
              <a:buNone/>
            </a:pPr>
            <a:endParaRPr lang="en-US" dirty="0"/>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Augmentation </a:t>
            </a: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rPr>
              <a:t>Rotation of images within a 20-degree range.</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rPr>
              <a:t>Horizontal flipping of images.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rPr>
              <a:t>Width and height shifting by 20%.</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rPr>
              <a:t>Shear transformation up to 20%.</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rPr>
              <a:t>Zooming in and out by 20%.</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242878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475C-5385-12EA-D2C4-3E4986C9562B}"/>
              </a:ext>
            </a:extLst>
          </p:cNvPr>
          <p:cNvSpPr>
            <a:spLocks noGrp="1"/>
          </p:cNvSpPr>
          <p:nvPr>
            <p:ph type="title"/>
          </p:nvPr>
        </p:nvSpPr>
        <p:spPr>
          <a:xfrm>
            <a:off x="802640" y="137160"/>
            <a:ext cx="7620000" cy="1132840"/>
          </a:xfrm>
        </p:spPr>
        <p:txBody>
          <a:bodyPr>
            <a:normAutofit/>
          </a:bodyPr>
          <a:lstStyle/>
          <a:p>
            <a:pPr marL="571500" indent="-571500">
              <a:buFont typeface="Wingdings" panose="05000000000000000000" pitchFamily="2" charset="2"/>
              <a:buChar char="q"/>
            </a:pPr>
            <a:r>
              <a:rPr lang="en-US" sz="3200" b="1" u="sng" dirty="0">
                <a:solidFill>
                  <a:srgbClr val="002060"/>
                </a:solidFill>
                <a:latin typeface="Times New Roman" panose="02020603050405020304" pitchFamily="18" charset="0"/>
                <a:cs typeface="Times New Roman" panose="02020603050405020304" pitchFamily="18" charset="0"/>
              </a:rPr>
              <a:t>AFTER AUGMENTATION DATA</a:t>
            </a:r>
            <a:endParaRPr lang="en-IN" sz="3200" b="1" u="sng" dirty="0">
              <a:solidFill>
                <a:srgbClr val="00206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C35441C-2A96-43B0-EE2E-50E0DCB8C590}"/>
              </a:ext>
            </a:extLst>
          </p:cNvPr>
          <p:cNvPicPr>
            <a:picLocks noChangeAspect="1"/>
          </p:cNvPicPr>
          <p:nvPr/>
        </p:nvPicPr>
        <p:blipFill>
          <a:blip r:embed="rId2"/>
          <a:stretch>
            <a:fillRect/>
          </a:stretch>
        </p:blipFill>
        <p:spPr>
          <a:xfrm>
            <a:off x="2727139" y="678181"/>
            <a:ext cx="7521761" cy="3739319"/>
          </a:xfrm>
          <a:prstGeom prst="rect">
            <a:avLst/>
          </a:prstGeom>
        </p:spPr>
      </p:pic>
      <p:pic>
        <p:nvPicPr>
          <p:cNvPr id="10" name="Picture 9">
            <a:extLst>
              <a:ext uri="{FF2B5EF4-FFF2-40B4-BE49-F238E27FC236}">
                <a16:creationId xmlns:a16="http://schemas.microsoft.com/office/drawing/2014/main" id="{1AF873BB-F7AE-7BFC-2EBB-21A05E79186A}"/>
              </a:ext>
            </a:extLst>
          </p:cNvPr>
          <p:cNvPicPr>
            <a:picLocks noChangeAspect="1"/>
          </p:cNvPicPr>
          <p:nvPr/>
        </p:nvPicPr>
        <p:blipFill>
          <a:blip r:embed="rId3"/>
          <a:stretch>
            <a:fillRect/>
          </a:stretch>
        </p:blipFill>
        <p:spPr>
          <a:xfrm>
            <a:off x="2727139" y="4417499"/>
            <a:ext cx="7539820" cy="1932501"/>
          </a:xfrm>
          <a:prstGeom prst="rect">
            <a:avLst/>
          </a:prstGeom>
        </p:spPr>
      </p:pic>
    </p:spTree>
    <p:extLst>
      <p:ext uri="{BB962C8B-B14F-4D97-AF65-F5344CB8AC3E}">
        <p14:creationId xmlns:p14="http://schemas.microsoft.com/office/powerpoint/2010/main" val="284980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0848A-4E5F-DAC4-4723-D3BD2844FB26}"/>
              </a:ext>
            </a:extLst>
          </p:cNvPr>
          <p:cNvSpPr>
            <a:spLocks noGrp="1"/>
          </p:cNvSpPr>
          <p:nvPr>
            <p:ph type="title"/>
          </p:nvPr>
        </p:nvSpPr>
        <p:spPr/>
        <p:txBody>
          <a:bodyPr>
            <a:normAutofit/>
          </a:bodyPr>
          <a:lstStyle/>
          <a:p>
            <a:pPr marL="457200" indent="-457200">
              <a:buFont typeface="Wingdings" panose="05000000000000000000" pitchFamily="2" charset="2"/>
              <a:buChar char="q"/>
            </a:pPr>
            <a:r>
              <a:rPr lang="en-US" sz="3200" u="sng" dirty="0">
                <a:solidFill>
                  <a:srgbClr val="002060"/>
                </a:solidFill>
                <a:latin typeface="Times New Roman" panose="02020603050405020304" pitchFamily="18" charset="0"/>
                <a:cs typeface="Times New Roman" panose="02020603050405020304" pitchFamily="18" charset="0"/>
              </a:rPr>
              <a:t>NORMALIZATION</a:t>
            </a:r>
            <a:endParaRPr lang="en-IN" sz="3200" u="sng"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7407514-45D7-1D6F-7272-8BDBDC89A414}"/>
              </a:ext>
            </a:extLst>
          </p:cNvPr>
          <p:cNvSpPr txBox="1"/>
          <p:nvPr/>
        </p:nvSpPr>
        <p:spPr>
          <a:xfrm>
            <a:off x="2032000" y="1317019"/>
            <a:ext cx="9309100" cy="1015663"/>
          </a:xfrm>
          <a:prstGeom prst="rect">
            <a:avLst/>
          </a:prstGeom>
          <a:noFill/>
        </p:spPr>
        <p:txBody>
          <a:bodyPr wrap="square" rtlCol="0">
            <a:spAutoFit/>
          </a:bodyPr>
          <a:lstStyle/>
          <a:p>
            <a:r>
              <a:rPr lang="en-IN" sz="2000" kern="100" dirty="0">
                <a:solidFill>
                  <a:srgbClr val="002060"/>
                </a:solidFill>
                <a:effectLst/>
                <a:latin typeface="Times New Roman" panose="02020603050405020304" pitchFamily="18" charset="0"/>
                <a:ea typeface="Calibri" panose="020F0502020204030204" pitchFamily="34" charset="0"/>
              </a:rPr>
              <a:t>This function scales pixel intensity values from the original [0, 255] range to a format compatible with the pretrained VGG-16 model. The normalization </a:t>
            </a:r>
            <a:r>
              <a:rPr lang="en-IN" sz="2000" kern="100" dirty="0">
                <a:solidFill>
                  <a:srgbClr val="002060"/>
                </a:solidFill>
                <a:latin typeface="Times New Roman" panose="02020603050405020304" pitchFamily="18" charset="0"/>
                <a:ea typeface="Calibri" panose="020F0502020204030204" pitchFamily="34" charset="0"/>
              </a:rPr>
              <a:t>C</a:t>
            </a:r>
            <a:r>
              <a:rPr lang="en-IN" sz="2000" kern="100" dirty="0">
                <a:solidFill>
                  <a:srgbClr val="002060"/>
                </a:solidFill>
                <a:effectLst/>
                <a:latin typeface="Times New Roman" panose="02020603050405020304" pitchFamily="18" charset="0"/>
                <a:ea typeface="Calibri" panose="020F0502020204030204" pitchFamily="34" charset="0"/>
              </a:rPr>
              <a:t>entr</a:t>
            </a:r>
            <a:r>
              <a:rPr lang="en-IN" sz="2000" kern="100" dirty="0">
                <a:solidFill>
                  <a:srgbClr val="002060"/>
                </a:solidFill>
                <a:latin typeface="Times New Roman" panose="02020603050405020304" pitchFamily="18" charset="0"/>
                <a:ea typeface="Calibri" panose="020F0502020204030204" pitchFamily="34" charset="0"/>
              </a:rPr>
              <a:t>ed</a:t>
            </a:r>
            <a:r>
              <a:rPr lang="en-IN" sz="2000" kern="100" dirty="0">
                <a:solidFill>
                  <a:srgbClr val="002060"/>
                </a:solidFill>
                <a:effectLst/>
                <a:latin typeface="Times New Roman" panose="02020603050405020304" pitchFamily="18" charset="0"/>
                <a:ea typeface="Calibri" panose="020F0502020204030204" pitchFamily="34" charset="0"/>
              </a:rPr>
              <a:t> the RGB channels based on ImageNet training statistics. </a:t>
            </a:r>
            <a:endParaRPr lang="en-IN" sz="2000" dirty="0">
              <a:solidFill>
                <a:srgbClr val="002060"/>
              </a:solidFill>
            </a:endParaRPr>
          </a:p>
        </p:txBody>
      </p:sp>
      <p:sp>
        <p:nvSpPr>
          <p:cNvPr id="4" name="TextBox 3">
            <a:extLst>
              <a:ext uri="{FF2B5EF4-FFF2-40B4-BE49-F238E27FC236}">
                <a16:creationId xmlns:a16="http://schemas.microsoft.com/office/drawing/2014/main" id="{92C179C9-6333-0255-7FA1-92E0B09C580F}"/>
              </a:ext>
            </a:extLst>
          </p:cNvPr>
          <p:cNvSpPr txBox="1"/>
          <p:nvPr/>
        </p:nvSpPr>
        <p:spPr>
          <a:xfrm>
            <a:off x="1371600" y="2444413"/>
            <a:ext cx="4838700" cy="584775"/>
          </a:xfrm>
          <a:prstGeom prst="rect">
            <a:avLst/>
          </a:prstGeom>
          <a:noFill/>
        </p:spPr>
        <p:txBody>
          <a:bodyPr wrap="square" rtlCol="0">
            <a:spAutoFit/>
          </a:bodyPr>
          <a:lstStyle/>
          <a:p>
            <a:pPr marL="285750" indent="-285750">
              <a:buFont typeface="Wingdings" panose="05000000000000000000" pitchFamily="2" charset="2"/>
              <a:buChar char="q"/>
            </a:pPr>
            <a:r>
              <a:rPr lang="en-US" sz="3200" u="sng" dirty="0">
                <a:solidFill>
                  <a:srgbClr val="002060"/>
                </a:solidFill>
                <a:latin typeface="Times New Roman" panose="02020603050405020304" pitchFamily="18" charset="0"/>
                <a:cs typeface="Times New Roman" panose="02020603050405020304" pitchFamily="18" charset="0"/>
              </a:rPr>
              <a:t>FILTERS</a:t>
            </a:r>
            <a:r>
              <a:rPr lang="en-US" dirty="0"/>
              <a:t> </a:t>
            </a:r>
            <a:endParaRPr lang="en-IN" dirty="0"/>
          </a:p>
        </p:txBody>
      </p:sp>
      <p:sp>
        <p:nvSpPr>
          <p:cNvPr id="5" name="TextBox 4">
            <a:extLst>
              <a:ext uri="{FF2B5EF4-FFF2-40B4-BE49-F238E27FC236}">
                <a16:creationId xmlns:a16="http://schemas.microsoft.com/office/drawing/2014/main" id="{31C87968-3DBF-2E43-A1D7-03DC946FB819}"/>
              </a:ext>
            </a:extLst>
          </p:cNvPr>
          <p:cNvSpPr txBox="1"/>
          <p:nvPr/>
        </p:nvSpPr>
        <p:spPr>
          <a:xfrm>
            <a:off x="1847850" y="3002419"/>
            <a:ext cx="9677400" cy="646331"/>
          </a:xfrm>
          <a:prstGeom prst="rect">
            <a:avLst/>
          </a:prstGeom>
          <a:noFill/>
        </p:spPr>
        <p:txBody>
          <a:bodyPr wrap="square" rtlCol="0">
            <a:spAutoFit/>
          </a:bodyPr>
          <a:lstStyle/>
          <a:p>
            <a:r>
              <a:rPr lang="en-IN" sz="1800" kern="100" dirty="0">
                <a:solidFill>
                  <a:srgbClr val="002060"/>
                </a:solidFill>
                <a:effectLst/>
                <a:latin typeface="Times New Roman" panose="02020603050405020304" pitchFamily="18" charset="0"/>
                <a:ea typeface="Calibri" panose="020F0502020204030204" pitchFamily="34" charset="0"/>
              </a:rPr>
              <a:t>Filtering was used to improve the visual quality of MRI images by enhancing features or reducing noise. Hear we use </a:t>
            </a:r>
            <a:r>
              <a:rPr lang="en-US" sz="1800" kern="100" dirty="0">
                <a:solidFill>
                  <a:srgbClr val="002060"/>
                </a:solidFill>
                <a:effectLst/>
                <a:latin typeface="Times New Roman" panose="02020603050405020304" pitchFamily="18" charset="0"/>
                <a:ea typeface="Calibri" panose="020F0502020204030204" pitchFamily="34" charset="0"/>
              </a:rPr>
              <a:t>Gaussian blur Filter.</a:t>
            </a:r>
            <a:endParaRPr lang="en-IN" dirty="0">
              <a:solidFill>
                <a:srgbClr val="002060"/>
              </a:solidFill>
            </a:endParaRPr>
          </a:p>
        </p:txBody>
      </p:sp>
      <p:pic>
        <p:nvPicPr>
          <p:cNvPr id="7" name="Picture 6">
            <a:extLst>
              <a:ext uri="{FF2B5EF4-FFF2-40B4-BE49-F238E27FC236}">
                <a16:creationId xmlns:a16="http://schemas.microsoft.com/office/drawing/2014/main" id="{0BC38469-3F08-5EFB-89E6-D791A26B8204}"/>
              </a:ext>
            </a:extLst>
          </p:cNvPr>
          <p:cNvPicPr>
            <a:picLocks noChangeAspect="1"/>
          </p:cNvPicPr>
          <p:nvPr/>
        </p:nvPicPr>
        <p:blipFill>
          <a:blip r:embed="rId2"/>
          <a:stretch>
            <a:fillRect/>
          </a:stretch>
        </p:blipFill>
        <p:spPr>
          <a:xfrm>
            <a:off x="3790950" y="3698925"/>
            <a:ext cx="5212716" cy="2537595"/>
          </a:xfrm>
          <a:prstGeom prst="rect">
            <a:avLst/>
          </a:prstGeom>
        </p:spPr>
      </p:pic>
    </p:spTree>
    <p:extLst>
      <p:ext uri="{BB962C8B-B14F-4D97-AF65-F5344CB8AC3E}">
        <p14:creationId xmlns:p14="http://schemas.microsoft.com/office/powerpoint/2010/main" val="3263513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B0C5-0A3C-8CC2-DD83-D182CC199F6B}"/>
              </a:ext>
            </a:extLst>
          </p:cNvPr>
          <p:cNvSpPr>
            <a:spLocks noGrp="1"/>
          </p:cNvSpPr>
          <p:nvPr>
            <p:ph type="title"/>
          </p:nvPr>
        </p:nvSpPr>
        <p:spPr>
          <a:xfrm>
            <a:off x="927100" y="279400"/>
            <a:ext cx="5892800" cy="698500"/>
          </a:xfrm>
        </p:spPr>
        <p:txBody>
          <a:bodyPr>
            <a:normAutofit/>
          </a:bodyPr>
          <a:lstStyle/>
          <a:p>
            <a:pPr marL="571500" indent="-571500">
              <a:buFont typeface="Wingdings" panose="05000000000000000000" pitchFamily="2" charset="2"/>
              <a:buChar char="q"/>
            </a:pPr>
            <a:r>
              <a:rPr lang="en-US" sz="3600" u="sng" dirty="0">
                <a:solidFill>
                  <a:srgbClr val="002060"/>
                </a:solidFill>
                <a:latin typeface="Times New Roman" panose="02020603050405020304" pitchFamily="18" charset="0"/>
                <a:cs typeface="Times New Roman" panose="02020603050405020304" pitchFamily="18" charset="0"/>
              </a:rPr>
              <a:t>APPLYING WAVELET</a:t>
            </a:r>
            <a:endParaRPr lang="en-IN" sz="3600" u="sng"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87B143A-5169-901D-27BD-7164A97C6189}"/>
              </a:ext>
            </a:extLst>
          </p:cNvPr>
          <p:cNvSpPr txBox="1"/>
          <p:nvPr/>
        </p:nvSpPr>
        <p:spPr>
          <a:xfrm>
            <a:off x="1663700" y="876300"/>
            <a:ext cx="10248900" cy="1446550"/>
          </a:xfrm>
          <a:prstGeom prst="rect">
            <a:avLst/>
          </a:prstGeom>
          <a:noFill/>
        </p:spPr>
        <p:txBody>
          <a:bodyPr wrap="square" rtlCol="0">
            <a:spAutoFit/>
          </a:bodyPr>
          <a:lstStyle/>
          <a:p>
            <a:r>
              <a:rPr lang="en-US" sz="2200" dirty="0">
                <a:solidFill>
                  <a:srgbClr val="002060"/>
                </a:solidFill>
                <a:latin typeface="Times New Roman" panose="02020603050405020304" pitchFamily="18" charset="0"/>
                <a:cs typeface="Times New Roman" panose="02020603050405020304" pitchFamily="18" charset="0"/>
              </a:rPr>
              <a:t>The wavelet transformation, filters are essential components used to decompose and reconstruct signals or images. In the context of brain tumor detection using CNNs, wavelet filters help in breaking down an image into different frequency components, making it easier to detect subtle features like edges and textures associated with tumors.</a:t>
            </a:r>
            <a:endParaRPr lang="en-IN" sz="2200"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8C3412D-BDE5-1B56-0041-A84A504FF666}"/>
              </a:ext>
            </a:extLst>
          </p:cNvPr>
          <p:cNvSpPr txBox="1"/>
          <p:nvPr/>
        </p:nvSpPr>
        <p:spPr>
          <a:xfrm>
            <a:off x="1803400" y="2322850"/>
            <a:ext cx="9271000" cy="4278094"/>
          </a:xfrm>
          <a:prstGeom prst="rect">
            <a:avLst/>
          </a:prstGeom>
          <a:noFill/>
        </p:spPr>
        <p:txBody>
          <a:bodyPr wrap="square" rtlCol="0">
            <a:spAutoFit/>
          </a:bodyPr>
          <a:lstStyle/>
          <a:p>
            <a:r>
              <a:rPr lang="en-US" sz="2600" dirty="0">
                <a:solidFill>
                  <a:srgbClr val="002060"/>
                </a:solidFill>
                <a:latin typeface="Times New Roman" panose="02020603050405020304" pitchFamily="18" charset="0"/>
                <a:cs typeface="Times New Roman" panose="02020603050405020304" pitchFamily="18" charset="0"/>
              </a:rPr>
              <a:t>Work Of DWT (Discrete Wavelet Transform)</a:t>
            </a:r>
          </a:p>
          <a:p>
            <a:endParaRPr lang="en-US" sz="2600" dirty="0">
              <a:solidFill>
                <a:srgbClr val="002060"/>
              </a:solidFill>
              <a:latin typeface="Times New Roman" panose="02020603050405020304" pitchFamily="18" charset="0"/>
              <a:cs typeface="Times New Roman" panose="02020603050405020304" pitchFamily="18" charset="0"/>
            </a:endParaRPr>
          </a:p>
          <a:p>
            <a:r>
              <a:rPr lang="en-US" sz="2200" dirty="0">
                <a:solidFill>
                  <a:srgbClr val="002060"/>
                </a:solidFill>
                <a:latin typeface="Times New Roman" panose="02020603050405020304" pitchFamily="18" charset="0"/>
                <a:cs typeface="Times New Roman" panose="02020603050405020304" pitchFamily="18" charset="0"/>
              </a:rPr>
              <a:t>For 2D images (e.g., MRI scans):</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The image is passed through horizontal low-pass and high-pass filters</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 The output is then passed through vertical low-pass and high-pass filters.</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 This results in four sub-band images:</a:t>
            </a:r>
          </a:p>
          <a:p>
            <a:pPr marL="342900" indent="-342900">
              <a:buAutoNum type="arabicPeriod"/>
            </a:pPr>
            <a:endParaRPr lang="en-US" sz="2200" dirty="0">
              <a:solidFill>
                <a:srgbClr val="002060"/>
              </a:solidFill>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200" dirty="0">
                <a:solidFill>
                  <a:srgbClr val="002060"/>
                </a:solidFill>
                <a:latin typeface="Times New Roman" panose="02020603050405020304" pitchFamily="18" charset="0"/>
                <a:cs typeface="Times New Roman" panose="02020603050405020304" pitchFamily="18" charset="0"/>
              </a:rPr>
              <a:t>LL (approximation):Low frequency –retains the basic structure of the image.</a:t>
            </a:r>
          </a:p>
          <a:p>
            <a:pPr marL="342900" indent="-342900">
              <a:buFont typeface="Courier New" panose="02070309020205020404" pitchFamily="49" charset="0"/>
              <a:buChar char="o"/>
            </a:pPr>
            <a:r>
              <a:rPr lang="en-US" sz="2200" dirty="0">
                <a:solidFill>
                  <a:srgbClr val="002060"/>
                </a:solidFill>
                <a:latin typeface="Times New Roman" panose="02020603050405020304" pitchFamily="18" charset="0"/>
                <a:cs typeface="Times New Roman" panose="02020603050405020304" pitchFamily="18" charset="0"/>
              </a:rPr>
              <a:t>LH (horizontal detail):High frequency changes in vertical direction.</a:t>
            </a:r>
          </a:p>
          <a:p>
            <a:pPr marL="342900" indent="-342900">
              <a:buFont typeface="Courier New" panose="02070309020205020404" pitchFamily="49" charset="0"/>
              <a:buChar char="o"/>
            </a:pPr>
            <a:r>
              <a:rPr lang="en-US" sz="2200" dirty="0">
                <a:solidFill>
                  <a:srgbClr val="002060"/>
                </a:solidFill>
                <a:latin typeface="Times New Roman" panose="02020603050405020304" pitchFamily="18" charset="0"/>
                <a:cs typeface="Times New Roman" panose="02020603050405020304" pitchFamily="18" charset="0"/>
              </a:rPr>
              <a:t>HL (vertical detail): High frequency changes in Horizontal direction.</a:t>
            </a:r>
          </a:p>
          <a:p>
            <a:pPr marL="342900" indent="-342900">
              <a:buFont typeface="Courier New" panose="02070309020205020404" pitchFamily="49" charset="0"/>
              <a:buChar char="o"/>
            </a:pPr>
            <a:r>
              <a:rPr lang="en-US" sz="2200" dirty="0">
                <a:solidFill>
                  <a:srgbClr val="002060"/>
                </a:solidFill>
                <a:latin typeface="Times New Roman" panose="02020603050405020304" pitchFamily="18" charset="0"/>
                <a:cs typeface="Times New Roman" panose="02020603050405020304" pitchFamily="18" charset="0"/>
              </a:rPr>
              <a:t>HH (diagonal detail): High frequency </a:t>
            </a:r>
            <a:r>
              <a:rPr lang="en-US" sz="2200" dirty="0" err="1">
                <a:solidFill>
                  <a:srgbClr val="002060"/>
                </a:solidFill>
                <a:latin typeface="Times New Roman" panose="02020603050405020304" pitchFamily="18" charset="0"/>
                <a:cs typeface="Times New Roman" panose="02020603050405020304" pitchFamily="18" charset="0"/>
              </a:rPr>
              <a:t>noise,edges,textures</a:t>
            </a:r>
            <a:r>
              <a:rPr lang="en-US" sz="2200" dirty="0">
                <a:solidFill>
                  <a:srgbClr val="002060"/>
                </a:solidFill>
                <a:latin typeface="Times New Roman" panose="02020603050405020304" pitchFamily="18" charset="0"/>
                <a:cs typeface="Times New Roman" panose="02020603050405020304" pitchFamily="18" charset="0"/>
              </a:rPr>
              <a:t>.</a:t>
            </a:r>
          </a:p>
          <a:p>
            <a:r>
              <a:rPr lang="en-US" sz="2200" dirty="0">
                <a:solidFill>
                  <a:srgbClr val="002060"/>
                </a:solidFill>
                <a:latin typeface="Times New Roman" panose="02020603050405020304" pitchFamily="18" charset="0"/>
                <a:cs typeface="Times New Roman" panose="02020603050405020304" pitchFamily="18" charset="0"/>
              </a:rPr>
              <a:t>These are often used as inputs to a CNN for better feature representation</a:t>
            </a:r>
            <a:r>
              <a:rPr lang="en-US" dirty="0"/>
              <a:t>.</a:t>
            </a:r>
            <a:endParaRPr lang="en-IN" dirty="0"/>
          </a:p>
        </p:txBody>
      </p:sp>
    </p:spTree>
    <p:extLst>
      <p:ext uri="{BB962C8B-B14F-4D97-AF65-F5344CB8AC3E}">
        <p14:creationId xmlns:p14="http://schemas.microsoft.com/office/powerpoint/2010/main" val="1450218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02BB-63E3-CB91-D6C1-A99B12DF3778}"/>
              </a:ext>
            </a:extLst>
          </p:cNvPr>
          <p:cNvSpPr>
            <a:spLocks noGrp="1"/>
          </p:cNvSpPr>
          <p:nvPr>
            <p:ph type="title"/>
          </p:nvPr>
        </p:nvSpPr>
        <p:spPr>
          <a:xfrm>
            <a:off x="825500" y="165100"/>
            <a:ext cx="9601200" cy="723900"/>
          </a:xfrm>
        </p:spPr>
        <p:txBody>
          <a:bodyPr/>
          <a:lstStyle/>
          <a:p>
            <a:pPr marL="571500" indent="-571500">
              <a:buFont typeface="Wingdings" panose="05000000000000000000" pitchFamily="2" charset="2"/>
              <a:buChar char="q"/>
            </a:pPr>
            <a:r>
              <a:rPr lang="en-US" b="1" u="sng" dirty="0">
                <a:solidFill>
                  <a:srgbClr val="002060"/>
                </a:solidFill>
              </a:rPr>
              <a:t>INT FUNCTION </a:t>
            </a:r>
            <a:endParaRPr lang="en-IN" b="1" u="sng" dirty="0">
              <a:solidFill>
                <a:srgbClr val="002060"/>
              </a:solidFill>
            </a:endParaRPr>
          </a:p>
        </p:txBody>
      </p:sp>
      <p:sp>
        <p:nvSpPr>
          <p:cNvPr id="3" name="TextBox 2">
            <a:extLst>
              <a:ext uri="{FF2B5EF4-FFF2-40B4-BE49-F238E27FC236}">
                <a16:creationId xmlns:a16="http://schemas.microsoft.com/office/drawing/2014/main" id="{04DEA75E-E8EC-B820-4AD4-F805AFF580F8}"/>
              </a:ext>
            </a:extLst>
          </p:cNvPr>
          <p:cNvSpPr txBox="1"/>
          <p:nvPr/>
        </p:nvSpPr>
        <p:spPr>
          <a:xfrm>
            <a:off x="1841500" y="889000"/>
            <a:ext cx="9728200" cy="2462213"/>
          </a:xfrm>
          <a:prstGeom prst="rect">
            <a:avLst/>
          </a:prstGeom>
          <a:noFill/>
        </p:spPr>
        <p:txBody>
          <a:bodyPr wrap="square" rtlCol="0">
            <a:spAutoFit/>
          </a:bodyPr>
          <a:lstStyle/>
          <a:p>
            <a:r>
              <a:rPr lang="en-US" sz="2200" dirty="0">
                <a:solidFill>
                  <a:srgbClr val="002060"/>
                </a:solidFill>
                <a:latin typeface="Times New Roman" panose="02020603050405020304" pitchFamily="18" charset="0"/>
                <a:cs typeface="Times New Roman" panose="02020603050405020304" pitchFamily="18" charset="0"/>
              </a:rPr>
              <a:t>“INT" stands for Integrated Features.</a:t>
            </a:r>
          </a:p>
          <a:p>
            <a:r>
              <a:rPr lang="en-US" sz="2200" dirty="0">
                <a:solidFill>
                  <a:srgbClr val="002060"/>
                </a:solidFill>
                <a:latin typeface="Times New Roman" panose="02020603050405020304" pitchFamily="18" charset="0"/>
                <a:cs typeface="Times New Roman" panose="02020603050405020304" pitchFamily="18" charset="0"/>
              </a:rPr>
              <a:t>It refers to combining or integrating features extracted from:</a:t>
            </a:r>
          </a:p>
          <a:p>
            <a:r>
              <a:rPr lang="en-US" sz="2200" dirty="0">
                <a:solidFill>
                  <a:srgbClr val="002060"/>
                </a:solidFill>
                <a:latin typeface="Times New Roman" panose="02020603050405020304" pitchFamily="18" charset="0"/>
                <a:cs typeface="Times New Roman" panose="02020603050405020304" pitchFamily="18" charset="0"/>
              </a:rPr>
              <a:t>The VGG-16 model (deep spatial features)</a:t>
            </a:r>
          </a:p>
          <a:p>
            <a:r>
              <a:rPr lang="en-US" sz="2200" dirty="0">
                <a:solidFill>
                  <a:srgbClr val="002060"/>
                </a:solidFill>
                <a:latin typeface="Times New Roman" panose="02020603050405020304" pitchFamily="18" charset="0"/>
                <a:cs typeface="Times New Roman" panose="02020603050405020304" pitchFamily="18" charset="0"/>
              </a:rPr>
              <a:t>The Wavelet Transform (frequency or texture features)</a:t>
            </a:r>
          </a:p>
          <a:p>
            <a:r>
              <a:rPr lang="en-US" sz="2200" dirty="0">
                <a:solidFill>
                  <a:srgbClr val="002060"/>
                </a:solidFill>
                <a:latin typeface="Times New Roman" panose="02020603050405020304" pitchFamily="18" charset="0"/>
                <a:cs typeface="Times New Roman" panose="02020603050405020304" pitchFamily="18" charset="0"/>
              </a:rPr>
              <a:t>So, the INT function or INT method is likely a custom-defined step in the pipeline that merges these features into a single feature vector before classification.</a:t>
            </a:r>
          </a:p>
          <a:p>
            <a:endParaRPr lang="en-US" sz="2200"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1E5A2BE-2F62-A243-FD2C-6DE6529C2D8B}"/>
              </a:ext>
            </a:extLst>
          </p:cNvPr>
          <p:cNvSpPr txBox="1"/>
          <p:nvPr/>
        </p:nvSpPr>
        <p:spPr>
          <a:xfrm>
            <a:off x="1727200" y="2955926"/>
            <a:ext cx="9461500" cy="3724096"/>
          </a:xfrm>
          <a:prstGeom prst="rect">
            <a:avLst/>
          </a:prstGeom>
          <a:noFill/>
        </p:spPr>
        <p:txBody>
          <a:bodyPr wrap="square" rtlCol="0">
            <a:spAutoFit/>
          </a:bodyPr>
          <a:lstStyle/>
          <a:p>
            <a:r>
              <a:rPr lang="en-US" sz="3000" u="sng" dirty="0">
                <a:solidFill>
                  <a:srgbClr val="002060"/>
                </a:solidFill>
                <a:latin typeface="Times New Roman" panose="02020603050405020304" pitchFamily="18" charset="0"/>
                <a:cs typeface="Times New Roman" panose="02020603050405020304" pitchFamily="18" charset="0"/>
              </a:rPr>
              <a:t>Step-by-step Integration (likely flow in our project):</a:t>
            </a:r>
          </a:p>
          <a:p>
            <a:endParaRPr lang="en-US" sz="3000" u="sng" dirty="0">
              <a:solidFill>
                <a:srgbClr val="002060"/>
              </a:solidFill>
              <a:latin typeface="Times New Roman" panose="02020603050405020304" pitchFamily="18" charset="0"/>
              <a:cs typeface="Times New Roman" panose="02020603050405020304" pitchFamily="18" charset="0"/>
            </a:endParaRP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Input Image → Preprocessing</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 Apply DWT (e.g., Haar Wavelet) → Get LL, LH, HL, HH features.</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Extract CNN Features from VGG-16 (flattened vector from FC layers or last convolutional block).</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 Concatenate or Fuse Features → This is where the INT function applies.</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Combined Feature Vector = [CNN features] + [Wavelet features]This merged vector is richer in information.</a:t>
            </a:r>
          </a:p>
          <a:p>
            <a:pPr marL="342900" indent="-342900">
              <a:buAutoNum type="arabicPeriod"/>
            </a:pPr>
            <a:r>
              <a:rPr lang="en-US" sz="2200" dirty="0">
                <a:solidFill>
                  <a:srgbClr val="002060"/>
                </a:solidFill>
                <a:latin typeface="Times New Roman" panose="02020603050405020304" pitchFamily="18" charset="0"/>
                <a:cs typeface="Times New Roman" panose="02020603050405020304" pitchFamily="18" charset="0"/>
              </a:rPr>
              <a:t>Pass to Classifier (</a:t>
            </a:r>
            <a:r>
              <a:rPr lang="en-US" sz="2200" dirty="0" err="1">
                <a:solidFill>
                  <a:srgbClr val="002060"/>
                </a:solidFill>
                <a:latin typeface="Times New Roman" panose="02020603050405020304" pitchFamily="18" charset="0"/>
                <a:cs typeface="Times New Roman" panose="02020603050405020304" pitchFamily="18" charset="0"/>
              </a:rPr>
              <a:t>Softmax</a:t>
            </a:r>
            <a:r>
              <a:rPr lang="en-US" sz="2200" dirty="0">
                <a:solidFill>
                  <a:srgbClr val="002060"/>
                </a:solidFill>
                <a:latin typeface="Times New Roman" panose="02020603050405020304" pitchFamily="18" charset="0"/>
                <a:cs typeface="Times New Roman" panose="02020603050405020304" pitchFamily="18" charset="0"/>
              </a:rPr>
              <a:t>,) Predict tumor/No Tumor.</a:t>
            </a:r>
            <a:endParaRPr lang="en-IN"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1577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3B2B75-E298-F8E9-0C59-1816D6497543}"/>
              </a:ext>
            </a:extLst>
          </p:cNvPr>
          <p:cNvSpPr txBox="1"/>
          <p:nvPr/>
        </p:nvSpPr>
        <p:spPr>
          <a:xfrm>
            <a:off x="1124218" y="475430"/>
            <a:ext cx="3962400" cy="1200329"/>
          </a:xfrm>
          <a:prstGeom prst="rect">
            <a:avLst/>
          </a:prstGeom>
          <a:noFill/>
        </p:spPr>
        <p:txBody>
          <a:bodyPr wrap="square" rtlCol="0">
            <a:spAutoFit/>
          </a:bodyPr>
          <a:lstStyle/>
          <a:p>
            <a:pPr algn="just"/>
            <a:r>
              <a:rPr lang="en-US" sz="3200" b="1" u="sng" dirty="0">
                <a:solidFill>
                  <a:srgbClr val="002060"/>
                </a:solidFill>
                <a:latin typeface="Times New Roman" panose="02020603050405020304" pitchFamily="18" charset="0"/>
                <a:cs typeface="Times New Roman" panose="02020603050405020304" pitchFamily="18" charset="0"/>
              </a:rPr>
              <a:t>CNN:-</a:t>
            </a:r>
            <a:endParaRPr lang="en-US" sz="3200" b="0" i="0" u="sng" dirty="0">
              <a:solidFill>
                <a:srgbClr val="002060"/>
              </a:solidFill>
              <a:effectLst/>
              <a:latin typeface="Times New Roman" panose="02020603050405020304" pitchFamily="18" charset="0"/>
              <a:cs typeface="Times New Roman" panose="02020603050405020304" pitchFamily="18" charset="0"/>
            </a:endParaRPr>
          </a:p>
          <a:p>
            <a:pPr algn="just"/>
            <a:endParaRPr lang="en-US" sz="2200" b="0" i="0" dirty="0">
              <a:solidFill>
                <a:srgbClr val="00206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C66FB36-EB5A-B1E3-9ED9-B3E19BC87972}"/>
              </a:ext>
            </a:extLst>
          </p:cNvPr>
          <p:cNvPicPr>
            <a:picLocks noChangeAspect="1"/>
          </p:cNvPicPr>
          <p:nvPr/>
        </p:nvPicPr>
        <p:blipFill>
          <a:blip r:embed="rId2"/>
          <a:stretch>
            <a:fillRect/>
          </a:stretch>
        </p:blipFill>
        <p:spPr>
          <a:xfrm>
            <a:off x="2418080" y="475430"/>
            <a:ext cx="7768388" cy="3055193"/>
          </a:xfrm>
          <a:prstGeom prst="rect">
            <a:avLst/>
          </a:prstGeom>
        </p:spPr>
      </p:pic>
      <p:pic>
        <p:nvPicPr>
          <p:cNvPr id="9" name="Picture 8">
            <a:extLst>
              <a:ext uri="{FF2B5EF4-FFF2-40B4-BE49-F238E27FC236}">
                <a16:creationId xmlns:a16="http://schemas.microsoft.com/office/drawing/2014/main" id="{11EADFA0-90FC-BD42-326A-73F28E93EC11}"/>
              </a:ext>
            </a:extLst>
          </p:cNvPr>
          <p:cNvPicPr>
            <a:picLocks noChangeAspect="1"/>
          </p:cNvPicPr>
          <p:nvPr/>
        </p:nvPicPr>
        <p:blipFill>
          <a:blip r:embed="rId3"/>
          <a:stretch>
            <a:fillRect/>
          </a:stretch>
        </p:blipFill>
        <p:spPr>
          <a:xfrm>
            <a:off x="784552" y="3720651"/>
            <a:ext cx="3962400" cy="2948949"/>
          </a:xfrm>
          <a:prstGeom prst="rect">
            <a:avLst/>
          </a:prstGeom>
        </p:spPr>
      </p:pic>
      <p:pic>
        <p:nvPicPr>
          <p:cNvPr id="13" name="Picture 12">
            <a:extLst>
              <a:ext uri="{FF2B5EF4-FFF2-40B4-BE49-F238E27FC236}">
                <a16:creationId xmlns:a16="http://schemas.microsoft.com/office/drawing/2014/main" id="{FBD02155-5B51-FC2A-BB41-5322BA06E3D4}"/>
              </a:ext>
            </a:extLst>
          </p:cNvPr>
          <p:cNvPicPr>
            <a:picLocks noChangeAspect="1"/>
          </p:cNvPicPr>
          <p:nvPr/>
        </p:nvPicPr>
        <p:blipFill>
          <a:blip r:embed="rId4"/>
          <a:stretch>
            <a:fillRect/>
          </a:stretch>
        </p:blipFill>
        <p:spPr>
          <a:xfrm>
            <a:off x="4883418" y="3614407"/>
            <a:ext cx="3638002" cy="3055193"/>
          </a:xfrm>
          <a:prstGeom prst="rect">
            <a:avLst/>
          </a:prstGeom>
        </p:spPr>
      </p:pic>
      <p:pic>
        <p:nvPicPr>
          <p:cNvPr id="17" name="Picture 16">
            <a:extLst>
              <a:ext uri="{FF2B5EF4-FFF2-40B4-BE49-F238E27FC236}">
                <a16:creationId xmlns:a16="http://schemas.microsoft.com/office/drawing/2014/main" id="{DE869F6E-7038-081E-6DE1-F515CDDF785D}"/>
              </a:ext>
            </a:extLst>
          </p:cNvPr>
          <p:cNvPicPr>
            <a:picLocks noChangeAspect="1"/>
          </p:cNvPicPr>
          <p:nvPr/>
        </p:nvPicPr>
        <p:blipFill>
          <a:blip r:embed="rId5"/>
          <a:stretch>
            <a:fillRect/>
          </a:stretch>
        </p:blipFill>
        <p:spPr>
          <a:xfrm>
            <a:off x="8670278" y="3901437"/>
            <a:ext cx="3459100" cy="2481131"/>
          </a:xfrm>
          <a:prstGeom prst="rect">
            <a:avLst/>
          </a:prstGeom>
        </p:spPr>
      </p:pic>
      <p:sp>
        <p:nvSpPr>
          <p:cNvPr id="2" name="TextBox 1">
            <a:extLst>
              <a:ext uri="{FF2B5EF4-FFF2-40B4-BE49-F238E27FC236}">
                <a16:creationId xmlns:a16="http://schemas.microsoft.com/office/drawing/2014/main" id="{8A033A11-A374-FA40-7FDD-B684B6753425}"/>
              </a:ext>
            </a:extLst>
          </p:cNvPr>
          <p:cNvSpPr txBox="1"/>
          <p:nvPr/>
        </p:nvSpPr>
        <p:spPr>
          <a:xfrm>
            <a:off x="590396" y="-20984"/>
            <a:ext cx="3655368" cy="707886"/>
          </a:xfrm>
          <a:prstGeom prst="rect">
            <a:avLst/>
          </a:prstGeom>
          <a:noFill/>
        </p:spPr>
        <p:txBody>
          <a:bodyPr wrap="square" rtlCol="0">
            <a:spAutoFit/>
          </a:bodyPr>
          <a:lstStyle/>
          <a:p>
            <a:pPr marL="285750" indent="-285750">
              <a:buFont typeface="Wingdings" panose="05000000000000000000" pitchFamily="2" charset="2"/>
              <a:buChar char="q"/>
            </a:pPr>
            <a:r>
              <a:rPr lang="en-US" sz="4000" dirty="0">
                <a:solidFill>
                  <a:srgbClr val="002060"/>
                </a:solidFill>
                <a:latin typeface="Times New Roman" panose="02020603050405020304" pitchFamily="18" charset="0"/>
                <a:cs typeface="Times New Roman" panose="02020603050405020304" pitchFamily="18" charset="0"/>
              </a:rPr>
              <a:t>RESULT </a:t>
            </a: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201C395-DCA3-1C94-32B3-C9DAB2A360EF}"/>
              </a:ext>
            </a:extLst>
          </p:cNvPr>
          <p:cNvSpPr txBox="1"/>
          <p:nvPr/>
        </p:nvSpPr>
        <p:spPr>
          <a:xfrm>
            <a:off x="6371165" y="4161366"/>
            <a:ext cx="550333" cy="369332"/>
          </a:xfrm>
          <a:prstGeom prst="rect">
            <a:avLst/>
          </a:prstGeom>
          <a:noFill/>
        </p:spPr>
        <p:txBody>
          <a:bodyPr wrap="square" rtlCol="0">
            <a:spAutoFit/>
          </a:bodyPr>
          <a:lstStyle/>
          <a:p>
            <a:r>
              <a:rPr lang="en-US" dirty="0"/>
              <a:t>TN</a:t>
            </a:r>
            <a:endParaRPr lang="en-IN" dirty="0"/>
          </a:p>
        </p:txBody>
      </p:sp>
      <p:sp>
        <p:nvSpPr>
          <p:cNvPr id="5" name="TextBox 4">
            <a:extLst>
              <a:ext uri="{FF2B5EF4-FFF2-40B4-BE49-F238E27FC236}">
                <a16:creationId xmlns:a16="http://schemas.microsoft.com/office/drawing/2014/main" id="{5EDAA35D-CB25-A232-9339-7E32F79E59C2}"/>
              </a:ext>
            </a:extLst>
          </p:cNvPr>
          <p:cNvSpPr txBox="1"/>
          <p:nvPr/>
        </p:nvSpPr>
        <p:spPr>
          <a:xfrm>
            <a:off x="7395632" y="4161366"/>
            <a:ext cx="550333" cy="369332"/>
          </a:xfrm>
          <a:prstGeom prst="rect">
            <a:avLst/>
          </a:prstGeom>
          <a:noFill/>
        </p:spPr>
        <p:txBody>
          <a:bodyPr wrap="square" rtlCol="0">
            <a:spAutoFit/>
          </a:bodyPr>
          <a:lstStyle/>
          <a:p>
            <a:r>
              <a:rPr lang="en-US" dirty="0"/>
              <a:t>FP</a:t>
            </a:r>
            <a:endParaRPr lang="en-IN" dirty="0"/>
          </a:p>
        </p:txBody>
      </p:sp>
      <p:sp>
        <p:nvSpPr>
          <p:cNvPr id="6" name="TextBox 5">
            <a:extLst>
              <a:ext uri="{FF2B5EF4-FFF2-40B4-BE49-F238E27FC236}">
                <a16:creationId xmlns:a16="http://schemas.microsoft.com/office/drawing/2014/main" id="{0D2C54CF-94FC-7DFA-1B89-14F954263863}"/>
              </a:ext>
            </a:extLst>
          </p:cNvPr>
          <p:cNvSpPr txBox="1"/>
          <p:nvPr/>
        </p:nvSpPr>
        <p:spPr>
          <a:xfrm>
            <a:off x="6371165" y="5803900"/>
            <a:ext cx="550333" cy="369332"/>
          </a:xfrm>
          <a:prstGeom prst="rect">
            <a:avLst/>
          </a:prstGeom>
          <a:noFill/>
        </p:spPr>
        <p:txBody>
          <a:bodyPr wrap="square" rtlCol="0">
            <a:spAutoFit/>
          </a:bodyPr>
          <a:lstStyle/>
          <a:p>
            <a:r>
              <a:rPr lang="en-US" dirty="0"/>
              <a:t>FN</a:t>
            </a:r>
            <a:endParaRPr lang="en-IN" dirty="0"/>
          </a:p>
        </p:txBody>
      </p:sp>
      <p:sp>
        <p:nvSpPr>
          <p:cNvPr id="8" name="TextBox 7">
            <a:extLst>
              <a:ext uri="{FF2B5EF4-FFF2-40B4-BE49-F238E27FC236}">
                <a16:creationId xmlns:a16="http://schemas.microsoft.com/office/drawing/2014/main" id="{94DA73AF-8425-3E33-CBEE-7F0E96F9472B}"/>
              </a:ext>
            </a:extLst>
          </p:cNvPr>
          <p:cNvSpPr txBox="1"/>
          <p:nvPr/>
        </p:nvSpPr>
        <p:spPr>
          <a:xfrm>
            <a:off x="7395631" y="5837766"/>
            <a:ext cx="550333" cy="369332"/>
          </a:xfrm>
          <a:prstGeom prst="rect">
            <a:avLst/>
          </a:prstGeom>
          <a:noFill/>
        </p:spPr>
        <p:txBody>
          <a:bodyPr wrap="square" rtlCol="0">
            <a:spAutoFit/>
          </a:bodyPr>
          <a:lstStyle/>
          <a:p>
            <a:r>
              <a:rPr lang="en-US" dirty="0"/>
              <a:t>TP</a:t>
            </a:r>
            <a:endParaRPr lang="en-IN" dirty="0"/>
          </a:p>
        </p:txBody>
      </p:sp>
      <p:sp>
        <p:nvSpPr>
          <p:cNvPr id="10" name="TextBox 9">
            <a:extLst>
              <a:ext uri="{FF2B5EF4-FFF2-40B4-BE49-F238E27FC236}">
                <a16:creationId xmlns:a16="http://schemas.microsoft.com/office/drawing/2014/main" id="{585453D5-380E-715A-4413-69522A4C9759}"/>
              </a:ext>
            </a:extLst>
          </p:cNvPr>
          <p:cNvSpPr txBox="1"/>
          <p:nvPr/>
        </p:nvSpPr>
        <p:spPr>
          <a:xfrm>
            <a:off x="6460066" y="3842475"/>
            <a:ext cx="550333" cy="276999"/>
          </a:xfrm>
          <a:prstGeom prst="rect">
            <a:avLst/>
          </a:prstGeom>
          <a:noFill/>
        </p:spPr>
        <p:txBody>
          <a:bodyPr wrap="square" rtlCol="0">
            <a:spAutoFit/>
          </a:bodyPr>
          <a:lstStyle/>
          <a:p>
            <a:r>
              <a:rPr lang="en-US" sz="1200" dirty="0"/>
              <a:t>=81</a:t>
            </a:r>
            <a:endParaRPr lang="en-IN" sz="1200" dirty="0"/>
          </a:p>
        </p:txBody>
      </p:sp>
      <p:sp>
        <p:nvSpPr>
          <p:cNvPr id="11" name="TextBox 10">
            <a:extLst>
              <a:ext uri="{FF2B5EF4-FFF2-40B4-BE49-F238E27FC236}">
                <a16:creationId xmlns:a16="http://schemas.microsoft.com/office/drawing/2014/main" id="{E79A658A-D792-BF8E-FF6E-145204C88A44}"/>
              </a:ext>
            </a:extLst>
          </p:cNvPr>
          <p:cNvSpPr txBox="1"/>
          <p:nvPr/>
        </p:nvSpPr>
        <p:spPr>
          <a:xfrm>
            <a:off x="7357532" y="3842475"/>
            <a:ext cx="550333" cy="276999"/>
          </a:xfrm>
          <a:prstGeom prst="rect">
            <a:avLst/>
          </a:prstGeom>
          <a:noFill/>
        </p:spPr>
        <p:txBody>
          <a:bodyPr wrap="square" rtlCol="0">
            <a:spAutoFit/>
          </a:bodyPr>
          <a:lstStyle/>
          <a:p>
            <a:r>
              <a:rPr lang="en-US" sz="1200" dirty="0"/>
              <a:t>=164</a:t>
            </a:r>
            <a:endParaRPr lang="en-IN" sz="1200" dirty="0"/>
          </a:p>
        </p:txBody>
      </p:sp>
      <p:sp>
        <p:nvSpPr>
          <p:cNvPr id="12" name="TextBox 11">
            <a:extLst>
              <a:ext uri="{FF2B5EF4-FFF2-40B4-BE49-F238E27FC236}">
                <a16:creationId xmlns:a16="http://schemas.microsoft.com/office/drawing/2014/main" id="{F9E8998E-3B2C-E5BA-7710-8D9CB7F954FD}"/>
              </a:ext>
            </a:extLst>
          </p:cNvPr>
          <p:cNvSpPr txBox="1"/>
          <p:nvPr/>
        </p:nvSpPr>
        <p:spPr>
          <a:xfrm>
            <a:off x="8022166" y="4389967"/>
            <a:ext cx="648111" cy="276999"/>
          </a:xfrm>
          <a:prstGeom prst="rect">
            <a:avLst/>
          </a:prstGeom>
          <a:noFill/>
        </p:spPr>
        <p:txBody>
          <a:bodyPr wrap="square" rtlCol="0">
            <a:spAutoFit/>
          </a:bodyPr>
          <a:lstStyle/>
          <a:p>
            <a:r>
              <a:rPr lang="en-US" sz="1200" dirty="0"/>
              <a:t>=81</a:t>
            </a:r>
            <a:endParaRPr lang="en-IN" sz="1200" dirty="0"/>
          </a:p>
        </p:txBody>
      </p:sp>
      <p:sp>
        <p:nvSpPr>
          <p:cNvPr id="14" name="TextBox 13">
            <a:extLst>
              <a:ext uri="{FF2B5EF4-FFF2-40B4-BE49-F238E27FC236}">
                <a16:creationId xmlns:a16="http://schemas.microsoft.com/office/drawing/2014/main" id="{374CF314-C4CA-4B0C-9963-A2EE443EAB41}"/>
              </a:ext>
            </a:extLst>
          </p:cNvPr>
          <p:cNvSpPr txBox="1"/>
          <p:nvPr/>
        </p:nvSpPr>
        <p:spPr>
          <a:xfrm>
            <a:off x="8022166" y="5665400"/>
            <a:ext cx="550333" cy="276999"/>
          </a:xfrm>
          <a:prstGeom prst="rect">
            <a:avLst/>
          </a:prstGeom>
          <a:noFill/>
        </p:spPr>
        <p:txBody>
          <a:bodyPr wrap="square" rtlCol="0">
            <a:spAutoFit/>
          </a:bodyPr>
          <a:lstStyle/>
          <a:p>
            <a:r>
              <a:rPr lang="en-US" sz="1200" dirty="0"/>
              <a:t>=164</a:t>
            </a:r>
            <a:endParaRPr lang="en-IN" sz="1200" dirty="0"/>
          </a:p>
        </p:txBody>
      </p:sp>
    </p:spTree>
    <p:extLst>
      <p:ext uri="{BB962C8B-B14F-4D97-AF65-F5344CB8AC3E}">
        <p14:creationId xmlns:p14="http://schemas.microsoft.com/office/powerpoint/2010/main" val="2604055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EF8ED5-902A-4D8D-929D-0D477CF55474}"/>
              </a:ext>
            </a:extLst>
          </p:cNvPr>
          <p:cNvSpPr txBox="1"/>
          <p:nvPr/>
        </p:nvSpPr>
        <p:spPr>
          <a:xfrm>
            <a:off x="908957" y="105954"/>
            <a:ext cx="2098403" cy="1160318"/>
          </a:xfrm>
          <a:prstGeom prst="rect">
            <a:avLst/>
          </a:prstGeom>
          <a:noFill/>
        </p:spPr>
        <p:txBody>
          <a:bodyPr wrap="square" rtlCol="0">
            <a:spAutoFit/>
          </a:bodyPr>
          <a:lstStyle/>
          <a:p>
            <a:pPr>
              <a:lnSpc>
                <a:spcPct val="115000"/>
              </a:lnSpc>
              <a:spcBef>
                <a:spcPts val="1800"/>
              </a:spcBef>
              <a:spcAft>
                <a:spcPts val="1200"/>
              </a:spcAft>
            </a:pPr>
            <a:r>
              <a:rPr lang="en-IN" sz="3200" b="1" u="sng" kern="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VGG</a:t>
            </a:r>
            <a:r>
              <a:rPr lang="en-IN" sz="3600" b="1" u="sng" kern="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16:-</a:t>
            </a:r>
            <a:endParaRPr lang="en-IN" sz="3600" u="sng"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CB27E9A-335E-35DB-6A89-9528936127C9}"/>
              </a:ext>
            </a:extLst>
          </p:cNvPr>
          <p:cNvPicPr>
            <a:picLocks noChangeAspect="1"/>
          </p:cNvPicPr>
          <p:nvPr/>
        </p:nvPicPr>
        <p:blipFill>
          <a:blip r:embed="rId2"/>
          <a:stretch>
            <a:fillRect/>
          </a:stretch>
        </p:blipFill>
        <p:spPr>
          <a:xfrm>
            <a:off x="3007360" y="607640"/>
            <a:ext cx="7255880" cy="2946788"/>
          </a:xfrm>
          <a:prstGeom prst="rect">
            <a:avLst/>
          </a:prstGeom>
        </p:spPr>
      </p:pic>
      <p:pic>
        <p:nvPicPr>
          <p:cNvPr id="10" name="Picture 9">
            <a:extLst>
              <a:ext uri="{FF2B5EF4-FFF2-40B4-BE49-F238E27FC236}">
                <a16:creationId xmlns:a16="http://schemas.microsoft.com/office/drawing/2014/main" id="{6ED97738-E3C0-713E-9213-2B517C1FA3F7}"/>
              </a:ext>
            </a:extLst>
          </p:cNvPr>
          <p:cNvPicPr>
            <a:picLocks noChangeAspect="1"/>
          </p:cNvPicPr>
          <p:nvPr/>
        </p:nvPicPr>
        <p:blipFill>
          <a:blip r:embed="rId3"/>
          <a:stretch>
            <a:fillRect/>
          </a:stretch>
        </p:blipFill>
        <p:spPr>
          <a:xfrm>
            <a:off x="908957" y="3726569"/>
            <a:ext cx="4170070" cy="2867730"/>
          </a:xfrm>
          <a:prstGeom prst="rect">
            <a:avLst/>
          </a:prstGeom>
        </p:spPr>
      </p:pic>
      <p:pic>
        <p:nvPicPr>
          <p:cNvPr id="16" name="Picture 15">
            <a:extLst>
              <a:ext uri="{FF2B5EF4-FFF2-40B4-BE49-F238E27FC236}">
                <a16:creationId xmlns:a16="http://schemas.microsoft.com/office/drawing/2014/main" id="{55F6CBFC-8DFF-6818-4A7A-C6DA16371363}"/>
              </a:ext>
            </a:extLst>
          </p:cNvPr>
          <p:cNvPicPr>
            <a:picLocks noChangeAspect="1"/>
          </p:cNvPicPr>
          <p:nvPr/>
        </p:nvPicPr>
        <p:blipFill>
          <a:blip r:embed="rId4"/>
          <a:stretch>
            <a:fillRect/>
          </a:stretch>
        </p:blipFill>
        <p:spPr>
          <a:xfrm>
            <a:off x="5180628" y="3848100"/>
            <a:ext cx="3465698" cy="2552700"/>
          </a:xfrm>
          <a:prstGeom prst="rect">
            <a:avLst/>
          </a:prstGeom>
        </p:spPr>
      </p:pic>
      <p:pic>
        <p:nvPicPr>
          <p:cNvPr id="18" name="Picture 17">
            <a:extLst>
              <a:ext uri="{FF2B5EF4-FFF2-40B4-BE49-F238E27FC236}">
                <a16:creationId xmlns:a16="http://schemas.microsoft.com/office/drawing/2014/main" id="{90A181F6-0D92-6BDB-0443-3C06747D3223}"/>
              </a:ext>
            </a:extLst>
          </p:cNvPr>
          <p:cNvPicPr>
            <a:picLocks noChangeAspect="1"/>
          </p:cNvPicPr>
          <p:nvPr/>
        </p:nvPicPr>
        <p:blipFill>
          <a:blip r:embed="rId5"/>
          <a:stretch>
            <a:fillRect/>
          </a:stretch>
        </p:blipFill>
        <p:spPr>
          <a:xfrm>
            <a:off x="8857871" y="3848100"/>
            <a:ext cx="3219830" cy="2552700"/>
          </a:xfrm>
          <a:prstGeom prst="rect">
            <a:avLst/>
          </a:prstGeom>
        </p:spPr>
      </p:pic>
    </p:spTree>
    <p:extLst>
      <p:ext uri="{BB962C8B-B14F-4D97-AF65-F5344CB8AC3E}">
        <p14:creationId xmlns:p14="http://schemas.microsoft.com/office/powerpoint/2010/main" val="1300694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548472-7EAD-750E-9D27-39352E69A0A5}"/>
              </a:ext>
            </a:extLst>
          </p:cNvPr>
          <p:cNvSpPr txBox="1"/>
          <p:nvPr/>
        </p:nvSpPr>
        <p:spPr>
          <a:xfrm>
            <a:off x="1012371" y="394692"/>
            <a:ext cx="10820400" cy="861774"/>
          </a:xfrm>
          <a:prstGeom prst="rect">
            <a:avLst/>
          </a:prstGeom>
          <a:noFill/>
        </p:spPr>
        <p:txBody>
          <a:bodyPr wrap="square" rtlCol="0">
            <a:spAutoFit/>
          </a:bodyPr>
          <a:lstStyle/>
          <a:p>
            <a:pPr algn="just">
              <a:buFont typeface="Arial" panose="020B0604020202020204" pitchFamily="34" charset="0"/>
              <a:buChar char="•"/>
            </a:pPr>
            <a:r>
              <a:rPr lang="en-US" sz="3200" b="1" u="sng" dirty="0">
                <a:solidFill>
                  <a:srgbClr val="002060"/>
                </a:solidFill>
                <a:latin typeface="Times New Roman" panose="02020603050405020304" pitchFamily="18" charset="0"/>
                <a:cs typeface="Times New Roman" panose="02020603050405020304" pitchFamily="18" charset="0"/>
              </a:rPr>
              <a:t>Logistic Regression:-</a:t>
            </a:r>
            <a:endParaRPr lang="en-US" sz="3200" b="0" i="0" u="sng" dirty="0">
              <a:solidFill>
                <a:srgbClr val="002060"/>
              </a:solidFill>
              <a:effectLst/>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45892D5A-DA1D-3600-8A2F-5F57DCA35B28}"/>
              </a:ext>
            </a:extLst>
          </p:cNvPr>
          <p:cNvPicPr>
            <a:picLocks noChangeAspect="1"/>
          </p:cNvPicPr>
          <p:nvPr/>
        </p:nvPicPr>
        <p:blipFill>
          <a:blip r:embed="rId2"/>
          <a:stretch>
            <a:fillRect/>
          </a:stretch>
        </p:blipFill>
        <p:spPr>
          <a:xfrm>
            <a:off x="7652473" y="1010251"/>
            <a:ext cx="4039732" cy="3743997"/>
          </a:xfrm>
          <a:prstGeom prst="rect">
            <a:avLst/>
          </a:prstGeom>
        </p:spPr>
      </p:pic>
      <p:pic>
        <p:nvPicPr>
          <p:cNvPr id="6" name="Picture 5">
            <a:extLst>
              <a:ext uri="{FF2B5EF4-FFF2-40B4-BE49-F238E27FC236}">
                <a16:creationId xmlns:a16="http://schemas.microsoft.com/office/drawing/2014/main" id="{EC208B8A-6BDB-A247-8531-0D333A870D83}"/>
              </a:ext>
            </a:extLst>
          </p:cNvPr>
          <p:cNvPicPr>
            <a:picLocks noChangeAspect="1"/>
          </p:cNvPicPr>
          <p:nvPr/>
        </p:nvPicPr>
        <p:blipFill>
          <a:blip r:embed="rId3"/>
          <a:stretch>
            <a:fillRect/>
          </a:stretch>
        </p:blipFill>
        <p:spPr>
          <a:xfrm>
            <a:off x="2074652" y="1010252"/>
            <a:ext cx="5489011" cy="3043588"/>
          </a:xfrm>
          <a:prstGeom prst="rect">
            <a:avLst/>
          </a:prstGeom>
        </p:spPr>
      </p:pic>
      <p:pic>
        <p:nvPicPr>
          <p:cNvPr id="9" name="Picture 8">
            <a:extLst>
              <a:ext uri="{FF2B5EF4-FFF2-40B4-BE49-F238E27FC236}">
                <a16:creationId xmlns:a16="http://schemas.microsoft.com/office/drawing/2014/main" id="{795874D2-3483-706C-5EE3-709E161D690E}"/>
              </a:ext>
            </a:extLst>
          </p:cNvPr>
          <p:cNvPicPr>
            <a:picLocks noChangeAspect="1"/>
          </p:cNvPicPr>
          <p:nvPr/>
        </p:nvPicPr>
        <p:blipFill>
          <a:blip r:embed="rId4"/>
          <a:srcRect t="31386" r="31872" b="-1"/>
          <a:stretch/>
        </p:blipFill>
        <p:spPr>
          <a:xfrm>
            <a:off x="2074652" y="4061394"/>
            <a:ext cx="5489011" cy="692855"/>
          </a:xfrm>
          <a:prstGeom prst="rect">
            <a:avLst/>
          </a:prstGeom>
        </p:spPr>
      </p:pic>
      <p:pic>
        <p:nvPicPr>
          <p:cNvPr id="12" name="Picture 11">
            <a:extLst>
              <a:ext uri="{FF2B5EF4-FFF2-40B4-BE49-F238E27FC236}">
                <a16:creationId xmlns:a16="http://schemas.microsoft.com/office/drawing/2014/main" id="{18428C24-354D-8331-7980-34A0112B3F94}"/>
              </a:ext>
            </a:extLst>
          </p:cNvPr>
          <p:cNvPicPr>
            <a:picLocks noChangeAspect="1"/>
          </p:cNvPicPr>
          <p:nvPr/>
        </p:nvPicPr>
        <p:blipFill>
          <a:blip r:embed="rId5"/>
          <a:stretch>
            <a:fillRect/>
          </a:stretch>
        </p:blipFill>
        <p:spPr>
          <a:xfrm>
            <a:off x="3317900" y="5154893"/>
            <a:ext cx="7935432" cy="1162212"/>
          </a:xfrm>
          <a:prstGeom prst="rect">
            <a:avLst/>
          </a:prstGeom>
        </p:spPr>
      </p:pic>
    </p:spTree>
    <p:extLst>
      <p:ext uri="{BB962C8B-B14F-4D97-AF65-F5344CB8AC3E}">
        <p14:creationId xmlns:p14="http://schemas.microsoft.com/office/powerpoint/2010/main" val="2637155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84DA8B-A3B4-B2FE-B1A6-FCC244E5DB6F}"/>
              </a:ext>
            </a:extLst>
          </p:cNvPr>
          <p:cNvSpPr txBox="1"/>
          <p:nvPr/>
        </p:nvSpPr>
        <p:spPr>
          <a:xfrm>
            <a:off x="1135743" y="288109"/>
            <a:ext cx="1576977" cy="584775"/>
          </a:xfrm>
          <a:prstGeom prst="rect">
            <a:avLst/>
          </a:prstGeom>
          <a:noFill/>
        </p:spPr>
        <p:txBody>
          <a:bodyPr wrap="square" rtlCol="0">
            <a:spAutoFit/>
          </a:bodyPr>
          <a:lstStyle/>
          <a:p>
            <a:pPr algn="l"/>
            <a:r>
              <a:rPr lang="en-US" sz="3200" b="1" u="sng" dirty="0">
                <a:solidFill>
                  <a:srgbClr val="002060"/>
                </a:solidFill>
                <a:latin typeface="Times New Roman" panose="02020603050405020304" pitchFamily="18" charset="0"/>
                <a:cs typeface="Times New Roman" panose="02020603050405020304" pitchFamily="18" charset="0"/>
              </a:rPr>
              <a:t>SVM:-</a:t>
            </a:r>
            <a:r>
              <a:rPr lang="en-US" sz="3200" b="1" i="0" u="sng" dirty="0">
                <a:solidFill>
                  <a:srgbClr val="002060"/>
                </a:solidFill>
                <a:effectLst/>
                <a:latin typeface="Times New Roman" panose="02020603050405020304" pitchFamily="18" charset="0"/>
                <a:cs typeface="Times New Roman" panose="02020603050405020304" pitchFamily="18" charset="0"/>
              </a:rPr>
              <a:t> </a:t>
            </a:r>
            <a:endParaRPr lang="en-IN" sz="3200" u="sng" dirty="0"/>
          </a:p>
        </p:txBody>
      </p:sp>
      <p:pic>
        <p:nvPicPr>
          <p:cNvPr id="5" name="Picture 4">
            <a:extLst>
              <a:ext uri="{FF2B5EF4-FFF2-40B4-BE49-F238E27FC236}">
                <a16:creationId xmlns:a16="http://schemas.microsoft.com/office/drawing/2014/main" id="{694E406A-1E4B-6CE5-C62D-9157F7BBC26F}"/>
              </a:ext>
            </a:extLst>
          </p:cNvPr>
          <p:cNvPicPr>
            <a:picLocks noChangeAspect="1"/>
          </p:cNvPicPr>
          <p:nvPr/>
        </p:nvPicPr>
        <p:blipFill>
          <a:blip r:embed="rId2"/>
          <a:stretch>
            <a:fillRect/>
          </a:stretch>
        </p:blipFill>
        <p:spPr>
          <a:xfrm>
            <a:off x="1135743" y="880686"/>
            <a:ext cx="5351003" cy="3941231"/>
          </a:xfrm>
          <a:prstGeom prst="rect">
            <a:avLst/>
          </a:prstGeom>
        </p:spPr>
      </p:pic>
      <p:pic>
        <p:nvPicPr>
          <p:cNvPr id="7" name="Picture 6">
            <a:extLst>
              <a:ext uri="{FF2B5EF4-FFF2-40B4-BE49-F238E27FC236}">
                <a16:creationId xmlns:a16="http://schemas.microsoft.com/office/drawing/2014/main" id="{10FB0268-C9E2-9CD2-87B2-3D69065AC50E}"/>
              </a:ext>
            </a:extLst>
          </p:cNvPr>
          <p:cNvPicPr>
            <a:picLocks noChangeAspect="1"/>
          </p:cNvPicPr>
          <p:nvPr/>
        </p:nvPicPr>
        <p:blipFill>
          <a:blip r:embed="rId3"/>
          <a:stretch>
            <a:fillRect/>
          </a:stretch>
        </p:blipFill>
        <p:spPr>
          <a:xfrm>
            <a:off x="6613565" y="872884"/>
            <a:ext cx="5420244" cy="3941230"/>
          </a:xfrm>
          <a:prstGeom prst="rect">
            <a:avLst/>
          </a:prstGeom>
        </p:spPr>
      </p:pic>
      <p:pic>
        <p:nvPicPr>
          <p:cNvPr id="11" name="Picture 10">
            <a:extLst>
              <a:ext uri="{FF2B5EF4-FFF2-40B4-BE49-F238E27FC236}">
                <a16:creationId xmlns:a16="http://schemas.microsoft.com/office/drawing/2014/main" id="{8D28E408-BD96-64E3-8B16-92514A5F7EDC}"/>
              </a:ext>
            </a:extLst>
          </p:cNvPr>
          <p:cNvPicPr>
            <a:picLocks noChangeAspect="1"/>
          </p:cNvPicPr>
          <p:nvPr/>
        </p:nvPicPr>
        <p:blipFill>
          <a:blip r:embed="rId4"/>
          <a:stretch>
            <a:fillRect/>
          </a:stretch>
        </p:blipFill>
        <p:spPr>
          <a:xfrm>
            <a:off x="2773680" y="5159610"/>
            <a:ext cx="8021169" cy="1171739"/>
          </a:xfrm>
          <a:prstGeom prst="rect">
            <a:avLst/>
          </a:prstGeom>
        </p:spPr>
      </p:pic>
    </p:spTree>
    <p:extLst>
      <p:ext uri="{BB962C8B-B14F-4D97-AF65-F5344CB8AC3E}">
        <p14:creationId xmlns:p14="http://schemas.microsoft.com/office/powerpoint/2010/main" val="100039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2E18DF-A845-E4A1-8128-A0DF05DF0D99}"/>
              </a:ext>
            </a:extLst>
          </p:cNvPr>
          <p:cNvSpPr txBox="1"/>
          <p:nvPr/>
        </p:nvSpPr>
        <p:spPr>
          <a:xfrm>
            <a:off x="762000" y="103638"/>
            <a:ext cx="10668000" cy="1107996"/>
          </a:xfrm>
          <a:prstGeom prst="rect">
            <a:avLst/>
          </a:prstGeom>
          <a:noFill/>
        </p:spPr>
        <p:txBody>
          <a:bodyPr wrap="square" rtlCol="0">
            <a:spAutoFit/>
          </a:bodyPr>
          <a:lstStyle/>
          <a:p>
            <a:r>
              <a:rPr lang="en-US" sz="2400" b="1" u="sng" dirty="0">
                <a:solidFill>
                  <a:srgbClr val="002060"/>
                </a:solidFill>
                <a:latin typeface="Times New Roman" panose="02020603050405020304" pitchFamily="18" charset="0"/>
                <a:cs typeface="Times New Roman" panose="02020603050405020304" pitchFamily="18" charset="0"/>
              </a:rPr>
              <a:t>COMPARISON TABLE FOR ALL THE MODEL:-</a:t>
            </a:r>
            <a:r>
              <a:rPr lang="en-US" sz="2400" b="1" dirty="0">
                <a:solidFill>
                  <a:srgbClr val="002060"/>
                </a:solidFill>
                <a:latin typeface="Times New Roman" panose="02020603050405020304" pitchFamily="18" charset="0"/>
                <a:cs typeface="Times New Roman" panose="02020603050405020304" pitchFamily="18" charset="0"/>
              </a:rPr>
              <a:t> </a:t>
            </a:r>
          </a:p>
          <a:p>
            <a:endParaRPr lang="en-US" sz="2400" b="1" dirty="0">
              <a:solidFill>
                <a:srgbClr val="002060"/>
              </a:solidFill>
              <a:latin typeface="Times New Roman" panose="02020603050405020304" pitchFamily="18" charset="0"/>
              <a:cs typeface="Times New Roman" panose="02020603050405020304" pitchFamily="18" charset="0"/>
            </a:endParaRPr>
          </a:p>
          <a:p>
            <a:endParaRPr lang="en-IN" dirty="0"/>
          </a:p>
        </p:txBody>
      </p:sp>
      <p:graphicFrame>
        <p:nvGraphicFramePr>
          <p:cNvPr id="4" name="Table 3">
            <a:extLst>
              <a:ext uri="{FF2B5EF4-FFF2-40B4-BE49-F238E27FC236}">
                <a16:creationId xmlns:a16="http://schemas.microsoft.com/office/drawing/2014/main" id="{B1A9D19D-5485-72E6-63DF-A3E8306144F5}"/>
              </a:ext>
            </a:extLst>
          </p:cNvPr>
          <p:cNvGraphicFramePr>
            <a:graphicFrameLocks noGrp="1"/>
          </p:cNvGraphicFramePr>
          <p:nvPr>
            <p:extLst>
              <p:ext uri="{D42A27DB-BD31-4B8C-83A1-F6EECF244321}">
                <p14:modId xmlns:p14="http://schemas.microsoft.com/office/powerpoint/2010/main" val="2815883892"/>
              </p:ext>
            </p:extLst>
          </p:nvPr>
        </p:nvGraphicFramePr>
        <p:xfrm>
          <a:off x="1498600" y="1516012"/>
          <a:ext cx="10223500" cy="4110910"/>
        </p:xfrm>
        <a:graphic>
          <a:graphicData uri="http://schemas.openxmlformats.org/drawingml/2006/table">
            <a:tbl>
              <a:tblPr firstRow="1" bandRow="1">
                <a:tableStyleId>{5C22544A-7EE6-4342-B048-85BDC9FD1C3A}</a:tableStyleId>
              </a:tblPr>
              <a:tblGrid>
                <a:gridCol w="2044700">
                  <a:extLst>
                    <a:ext uri="{9D8B030D-6E8A-4147-A177-3AD203B41FA5}">
                      <a16:colId xmlns:a16="http://schemas.microsoft.com/office/drawing/2014/main" val="846119155"/>
                    </a:ext>
                  </a:extLst>
                </a:gridCol>
                <a:gridCol w="2044700">
                  <a:extLst>
                    <a:ext uri="{9D8B030D-6E8A-4147-A177-3AD203B41FA5}">
                      <a16:colId xmlns:a16="http://schemas.microsoft.com/office/drawing/2014/main" val="2655594915"/>
                    </a:ext>
                  </a:extLst>
                </a:gridCol>
                <a:gridCol w="2044700">
                  <a:extLst>
                    <a:ext uri="{9D8B030D-6E8A-4147-A177-3AD203B41FA5}">
                      <a16:colId xmlns:a16="http://schemas.microsoft.com/office/drawing/2014/main" val="3996908739"/>
                    </a:ext>
                  </a:extLst>
                </a:gridCol>
                <a:gridCol w="2044700">
                  <a:extLst>
                    <a:ext uri="{9D8B030D-6E8A-4147-A177-3AD203B41FA5}">
                      <a16:colId xmlns:a16="http://schemas.microsoft.com/office/drawing/2014/main" val="1410555663"/>
                    </a:ext>
                  </a:extLst>
                </a:gridCol>
                <a:gridCol w="2044700">
                  <a:extLst>
                    <a:ext uri="{9D8B030D-6E8A-4147-A177-3AD203B41FA5}">
                      <a16:colId xmlns:a16="http://schemas.microsoft.com/office/drawing/2014/main" val="3548732378"/>
                    </a:ext>
                  </a:extLst>
                </a:gridCol>
              </a:tblGrid>
              <a:tr h="474836">
                <a:tc>
                  <a:txBody>
                    <a:bodyPr/>
                    <a:lstStyle/>
                    <a:p>
                      <a:pPr algn="ctr"/>
                      <a:r>
                        <a:rPr lang="en-US" dirty="0"/>
                        <a:t>ALL MODEL</a:t>
                      </a:r>
                      <a:endParaRPr lang="en-IN" dirty="0"/>
                    </a:p>
                  </a:txBody>
                  <a:tcPr/>
                </a:tc>
                <a:tc>
                  <a:txBody>
                    <a:bodyPr/>
                    <a:lstStyle/>
                    <a:p>
                      <a:pPr algn="ctr"/>
                      <a:r>
                        <a:rPr lang="en-US" dirty="0"/>
                        <a:t>ACCURACY</a:t>
                      </a:r>
                      <a:endParaRPr lang="en-IN" dirty="0"/>
                    </a:p>
                  </a:txBody>
                  <a:tcPr/>
                </a:tc>
                <a:tc>
                  <a:txBody>
                    <a:bodyPr/>
                    <a:lstStyle/>
                    <a:p>
                      <a:pPr algn="ctr"/>
                      <a:r>
                        <a:rPr lang="en-US" dirty="0"/>
                        <a:t>F1 SCORE</a:t>
                      </a:r>
                      <a:endParaRPr lang="en-IN" dirty="0"/>
                    </a:p>
                  </a:txBody>
                  <a:tcPr/>
                </a:tc>
                <a:tc>
                  <a:txBody>
                    <a:bodyPr/>
                    <a:lstStyle/>
                    <a:p>
                      <a:pPr algn="ctr"/>
                      <a:r>
                        <a:rPr lang="en-US" dirty="0"/>
                        <a:t>RECALL</a:t>
                      </a:r>
                      <a:endParaRPr lang="en-IN" dirty="0"/>
                    </a:p>
                  </a:txBody>
                  <a:tcPr/>
                </a:tc>
                <a:tc>
                  <a:txBody>
                    <a:bodyPr/>
                    <a:lstStyle/>
                    <a:p>
                      <a:pPr algn="ctr"/>
                      <a:r>
                        <a:rPr lang="en-US" dirty="0"/>
                        <a:t>PRECISION </a:t>
                      </a:r>
                      <a:endParaRPr lang="en-IN" dirty="0"/>
                    </a:p>
                  </a:txBody>
                  <a:tcPr/>
                </a:tc>
                <a:extLst>
                  <a:ext uri="{0D108BD9-81ED-4DB2-BD59-A6C34878D82A}">
                    <a16:rowId xmlns:a16="http://schemas.microsoft.com/office/drawing/2014/main" val="3501095308"/>
                  </a:ext>
                </a:extLst>
              </a:tr>
              <a:tr h="819580">
                <a:tc>
                  <a:txBody>
                    <a:bodyPr/>
                    <a:lstStyle/>
                    <a:p>
                      <a:pPr algn="ctr"/>
                      <a:r>
                        <a:rPr lang="en-US" dirty="0"/>
                        <a:t>LOGISTICS REGRESSION</a:t>
                      </a:r>
                      <a:endParaRPr lang="en-IN" dirty="0"/>
                    </a:p>
                  </a:txBody>
                  <a:tcPr/>
                </a:tc>
                <a:tc>
                  <a:txBody>
                    <a:bodyPr/>
                    <a:lstStyle/>
                    <a:p>
                      <a:pPr algn="ctr"/>
                      <a:r>
                        <a:rPr lang="en-US" dirty="0"/>
                        <a:t>0.9061</a:t>
                      </a:r>
                      <a:endParaRPr lang="en-IN" dirty="0"/>
                    </a:p>
                  </a:txBody>
                  <a:tcPr/>
                </a:tc>
                <a:tc>
                  <a:txBody>
                    <a:bodyPr/>
                    <a:lstStyle/>
                    <a:p>
                      <a:pPr algn="ctr"/>
                      <a:r>
                        <a:rPr lang="en-US" dirty="0"/>
                        <a:t>0.9322</a:t>
                      </a:r>
                      <a:endParaRPr lang="en-IN" dirty="0"/>
                    </a:p>
                  </a:txBody>
                  <a:tcPr/>
                </a:tc>
                <a:tc>
                  <a:txBody>
                    <a:bodyPr/>
                    <a:lstStyle/>
                    <a:p>
                      <a:pPr algn="ctr"/>
                      <a:r>
                        <a:rPr lang="en-US" dirty="0"/>
                        <a:t>0.9034</a:t>
                      </a:r>
                      <a:endParaRPr lang="en-IN" dirty="0"/>
                    </a:p>
                  </a:txBody>
                  <a:tcPr/>
                </a:tc>
                <a:tc>
                  <a:txBody>
                    <a:bodyPr/>
                    <a:lstStyle/>
                    <a:p>
                      <a:pPr algn="ctr"/>
                      <a:r>
                        <a:rPr lang="en-US" dirty="0"/>
                        <a:t>0.9029</a:t>
                      </a:r>
                      <a:endParaRPr lang="en-IN" dirty="0"/>
                    </a:p>
                  </a:txBody>
                  <a:tcPr/>
                </a:tc>
                <a:extLst>
                  <a:ext uri="{0D108BD9-81ED-4DB2-BD59-A6C34878D82A}">
                    <a16:rowId xmlns:a16="http://schemas.microsoft.com/office/drawing/2014/main" val="1811735599"/>
                  </a:ext>
                </a:extLst>
              </a:tr>
              <a:tr h="1170829">
                <a:tc>
                  <a:txBody>
                    <a:bodyPr/>
                    <a:lstStyle/>
                    <a:p>
                      <a:pPr algn="ctr"/>
                      <a:r>
                        <a:rPr lang="en-US" dirty="0"/>
                        <a:t>SOPPORT VECTOR MACHINE</a:t>
                      </a:r>
                      <a:endParaRPr lang="en-IN" dirty="0"/>
                    </a:p>
                  </a:txBody>
                  <a:tcPr/>
                </a:tc>
                <a:tc>
                  <a:txBody>
                    <a:bodyPr/>
                    <a:lstStyle/>
                    <a:p>
                      <a:pPr algn="ctr"/>
                      <a:r>
                        <a:rPr lang="en-US" dirty="0"/>
                        <a:t>0.9429</a:t>
                      </a:r>
                      <a:endParaRPr lang="en-IN" dirty="0"/>
                    </a:p>
                  </a:txBody>
                  <a:tcPr/>
                </a:tc>
                <a:tc>
                  <a:txBody>
                    <a:bodyPr/>
                    <a:lstStyle/>
                    <a:p>
                      <a:pPr algn="ctr"/>
                      <a:r>
                        <a:rPr lang="en-US" dirty="0"/>
                        <a:t>0.9578</a:t>
                      </a:r>
                      <a:endParaRPr lang="en-IN" dirty="0"/>
                    </a:p>
                  </a:txBody>
                  <a:tcPr/>
                </a:tc>
                <a:tc>
                  <a:txBody>
                    <a:bodyPr/>
                    <a:lstStyle/>
                    <a:p>
                      <a:pPr algn="ctr"/>
                      <a:r>
                        <a:rPr lang="en-US" dirty="0"/>
                        <a:t>0.9695</a:t>
                      </a:r>
                      <a:endParaRPr lang="en-IN" dirty="0"/>
                    </a:p>
                  </a:txBody>
                  <a:tcPr/>
                </a:tc>
                <a:tc>
                  <a:txBody>
                    <a:bodyPr/>
                    <a:lstStyle/>
                    <a:p>
                      <a:pPr algn="ctr"/>
                      <a:r>
                        <a:rPr lang="en-US" dirty="0"/>
                        <a:t>0.9464</a:t>
                      </a:r>
                      <a:endParaRPr lang="en-IN" dirty="0"/>
                    </a:p>
                  </a:txBody>
                  <a:tcPr/>
                </a:tc>
                <a:extLst>
                  <a:ext uri="{0D108BD9-81ED-4DB2-BD59-A6C34878D82A}">
                    <a16:rowId xmlns:a16="http://schemas.microsoft.com/office/drawing/2014/main" val="2452298399"/>
                  </a:ext>
                </a:extLst>
              </a:tr>
              <a:tr h="1170829">
                <a:tc>
                  <a:txBody>
                    <a:bodyPr/>
                    <a:lstStyle/>
                    <a:p>
                      <a:pPr algn="ctr"/>
                      <a:r>
                        <a:rPr lang="en-US" dirty="0"/>
                        <a:t>CONVOLUTION NEURAL NETWORK</a:t>
                      </a:r>
                      <a:endParaRPr lang="en-IN" dirty="0"/>
                    </a:p>
                  </a:txBody>
                  <a:tcPr/>
                </a:tc>
                <a:tc>
                  <a:txBody>
                    <a:bodyPr/>
                    <a:lstStyle/>
                    <a:p>
                      <a:pPr algn="ctr"/>
                      <a:r>
                        <a:rPr lang="en-US" dirty="0"/>
                        <a:t>0.9484</a:t>
                      </a:r>
                      <a:endParaRPr lang="en-IN" dirty="0"/>
                    </a:p>
                  </a:txBody>
                  <a:tcPr/>
                </a:tc>
                <a:tc>
                  <a:txBody>
                    <a:bodyPr/>
                    <a:lstStyle/>
                    <a:p>
                      <a:pPr algn="ctr"/>
                      <a:r>
                        <a:rPr lang="en-US" dirty="0"/>
                        <a:t>0.9419</a:t>
                      </a:r>
                      <a:endParaRPr lang="en-IN" dirty="0"/>
                    </a:p>
                  </a:txBody>
                  <a:tcPr/>
                </a:tc>
                <a:tc>
                  <a:txBody>
                    <a:bodyPr/>
                    <a:lstStyle/>
                    <a:p>
                      <a:pPr algn="ctr"/>
                      <a:r>
                        <a:rPr lang="en-US" dirty="0"/>
                        <a:t>0.9817</a:t>
                      </a:r>
                      <a:endParaRPr lang="en-IN" dirty="0"/>
                    </a:p>
                  </a:txBody>
                  <a:tcPr/>
                </a:tc>
                <a:tc>
                  <a:txBody>
                    <a:bodyPr/>
                    <a:lstStyle/>
                    <a:p>
                      <a:pPr algn="ctr"/>
                      <a:r>
                        <a:rPr lang="en-US" dirty="0"/>
                        <a:t>0.9045</a:t>
                      </a:r>
                      <a:endParaRPr lang="en-IN" dirty="0"/>
                    </a:p>
                  </a:txBody>
                  <a:tcPr/>
                </a:tc>
                <a:extLst>
                  <a:ext uri="{0D108BD9-81ED-4DB2-BD59-A6C34878D82A}">
                    <a16:rowId xmlns:a16="http://schemas.microsoft.com/office/drawing/2014/main" val="570377525"/>
                  </a:ext>
                </a:extLst>
              </a:tr>
              <a:tr h="474836">
                <a:tc>
                  <a:txBody>
                    <a:bodyPr/>
                    <a:lstStyle/>
                    <a:p>
                      <a:pPr algn="ctr"/>
                      <a:r>
                        <a:rPr lang="en-US" dirty="0"/>
                        <a:t>VGG-16</a:t>
                      </a:r>
                      <a:endParaRPr lang="en-IN" dirty="0"/>
                    </a:p>
                  </a:txBody>
                  <a:tcPr/>
                </a:tc>
                <a:tc>
                  <a:txBody>
                    <a:bodyPr/>
                    <a:lstStyle/>
                    <a:p>
                      <a:pPr algn="ctr"/>
                      <a:r>
                        <a:rPr lang="en-US" dirty="0"/>
                        <a:t>0.9551</a:t>
                      </a:r>
                      <a:endParaRPr lang="en-IN" dirty="0"/>
                    </a:p>
                  </a:txBody>
                  <a:tcPr/>
                </a:tc>
                <a:tc>
                  <a:txBody>
                    <a:bodyPr/>
                    <a:lstStyle/>
                    <a:p>
                      <a:pPr algn="ctr"/>
                      <a:r>
                        <a:rPr lang="en-US" dirty="0"/>
                        <a:t>0.95</a:t>
                      </a:r>
                      <a:endParaRPr lang="en-IN" dirty="0"/>
                    </a:p>
                  </a:txBody>
                  <a:tcPr/>
                </a:tc>
                <a:tc>
                  <a:txBody>
                    <a:bodyPr/>
                    <a:lstStyle/>
                    <a:p>
                      <a:pPr algn="ctr"/>
                      <a:r>
                        <a:rPr lang="en-US" dirty="0"/>
                        <a:t>0.96</a:t>
                      </a:r>
                      <a:endParaRPr lang="en-IN" dirty="0"/>
                    </a:p>
                  </a:txBody>
                  <a:tcPr/>
                </a:tc>
                <a:tc>
                  <a:txBody>
                    <a:bodyPr/>
                    <a:lstStyle/>
                    <a:p>
                      <a:pPr algn="ctr"/>
                      <a:r>
                        <a:rPr lang="en-US" dirty="0"/>
                        <a:t>0.96</a:t>
                      </a:r>
                      <a:endParaRPr lang="en-IN" dirty="0"/>
                    </a:p>
                  </a:txBody>
                  <a:tcPr/>
                </a:tc>
                <a:extLst>
                  <a:ext uri="{0D108BD9-81ED-4DB2-BD59-A6C34878D82A}">
                    <a16:rowId xmlns:a16="http://schemas.microsoft.com/office/drawing/2014/main" val="4077413898"/>
                  </a:ext>
                </a:extLst>
              </a:tr>
            </a:tbl>
          </a:graphicData>
        </a:graphic>
      </p:graphicFrame>
      <p:sp>
        <p:nvSpPr>
          <p:cNvPr id="5" name="TextBox 4">
            <a:extLst>
              <a:ext uri="{FF2B5EF4-FFF2-40B4-BE49-F238E27FC236}">
                <a16:creationId xmlns:a16="http://schemas.microsoft.com/office/drawing/2014/main" id="{4ADFC64D-6A57-DAE1-B467-B35A7B6C235E}"/>
              </a:ext>
            </a:extLst>
          </p:cNvPr>
          <p:cNvSpPr txBox="1"/>
          <p:nvPr/>
        </p:nvSpPr>
        <p:spPr>
          <a:xfrm>
            <a:off x="1087120" y="809825"/>
            <a:ext cx="5008880"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ALL MODEL WITHOUT WAVELETS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037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1DCBB-7441-232F-C0FD-53DDA1DCCE79}"/>
              </a:ext>
            </a:extLst>
          </p:cNvPr>
          <p:cNvSpPr>
            <a:spLocks noGrp="1"/>
          </p:cNvSpPr>
          <p:nvPr>
            <p:ph type="title"/>
          </p:nvPr>
        </p:nvSpPr>
        <p:spPr>
          <a:xfrm>
            <a:off x="927100" y="101600"/>
            <a:ext cx="5080000" cy="660400"/>
          </a:xfrm>
        </p:spPr>
        <p:txBody>
          <a:bodyPr>
            <a:normAutofit fontScale="90000"/>
          </a:bodyPr>
          <a:lstStyle/>
          <a:p>
            <a:pPr marL="571500" indent="-5715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ALL MODEL WITH WAVELETS </a:t>
            </a:r>
            <a:br>
              <a:rPr lang="en-IN" dirty="0">
                <a:latin typeface="Times New Roman" panose="02020603050405020304" pitchFamily="18" charset="0"/>
                <a:cs typeface="Times New Roman" panose="02020603050405020304" pitchFamily="18" charset="0"/>
              </a:rPr>
            </a:br>
            <a:endParaRPr lang="en-IN" dirty="0"/>
          </a:p>
        </p:txBody>
      </p:sp>
      <p:graphicFrame>
        <p:nvGraphicFramePr>
          <p:cNvPr id="3" name="Table 2">
            <a:extLst>
              <a:ext uri="{FF2B5EF4-FFF2-40B4-BE49-F238E27FC236}">
                <a16:creationId xmlns:a16="http://schemas.microsoft.com/office/drawing/2014/main" id="{821FA3DD-9DF4-A8F7-C16B-164B9905C8EE}"/>
              </a:ext>
            </a:extLst>
          </p:cNvPr>
          <p:cNvGraphicFramePr>
            <a:graphicFrameLocks noGrp="1"/>
          </p:cNvGraphicFramePr>
          <p:nvPr>
            <p:extLst>
              <p:ext uri="{D42A27DB-BD31-4B8C-83A1-F6EECF244321}">
                <p14:modId xmlns:p14="http://schemas.microsoft.com/office/powerpoint/2010/main" val="828185343"/>
              </p:ext>
            </p:extLst>
          </p:nvPr>
        </p:nvGraphicFramePr>
        <p:xfrm>
          <a:off x="2567940" y="431800"/>
          <a:ext cx="8128000" cy="32105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846119155"/>
                    </a:ext>
                  </a:extLst>
                </a:gridCol>
                <a:gridCol w="1625600">
                  <a:extLst>
                    <a:ext uri="{9D8B030D-6E8A-4147-A177-3AD203B41FA5}">
                      <a16:colId xmlns:a16="http://schemas.microsoft.com/office/drawing/2014/main" val="2655594915"/>
                    </a:ext>
                  </a:extLst>
                </a:gridCol>
                <a:gridCol w="1625600">
                  <a:extLst>
                    <a:ext uri="{9D8B030D-6E8A-4147-A177-3AD203B41FA5}">
                      <a16:colId xmlns:a16="http://schemas.microsoft.com/office/drawing/2014/main" val="3996908739"/>
                    </a:ext>
                  </a:extLst>
                </a:gridCol>
                <a:gridCol w="1625600">
                  <a:extLst>
                    <a:ext uri="{9D8B030D-6E8A-4147-A177-3AD203B41FA5}">
                      <a16:colId xmlns:a16="http://schemas.microsoft.com/office/drawing/2014/main" val="1410555663"/>
                    </a:ext>
                  </a:extLst>
                </a:gridCol>
                <a:gridCol w="1625600">
                  <a:extLst>
                    <a:ext uri="{9D8B030D-6E8A-4147-A177-3AD203B41FA5}">
                      <a16:colId xmlns:a16="http://schemas.microsoft.com/office/drawing/2014/main" val="3548732378"/>
                    </a:ext>
                  </a:extLst>
                </a:gridCol>
              </a:tblGrid>
              <a:tr h="370840">
                <a:tc>
                  <a:txBody>
                    <a:bodyPr/>
                    <a:lstStyle/>
                    <a:p>
                      <a:pPr algn="ctr"/>
                      <a:r>
                        <a:rPr lang="en-US" dirty="0"/>
                        <a:t>ALL MODEL</a:t>
                      </a:r>
                      <a:endParaRPr lang="en-IN" dirty="0"/>
                    </a:p>
                  </a:txBody>
                  <a:tcPr/>
                </a:tc>
                <a:tc>
                  <a:txBody>
                    <a:bodyPr/>
                    <a:lstStyle/>
                    <a:p>
                      <a:pPr algn="ctr"/>
                      <a:r>
                        <a:rPr lang="en-US" dirty="0"/>
                        <a:t>ACCURACY</a:t>
                      </a:r>
                      <a:endParaRPr lang="en-IN" dirty="0"/>
                    </a:p>
                  </a:txBody>
                  <a:tcPr/>
                </a:tc>
                <a:tc>
                  <a:txBody>
                    <a:bodyPr/>
                    <a:lstStyle/>
                    <a:p>
                      <a:pPr algn="ctr"/>
                      <a:r>
                        <a:rPr lang="en-US" dirty="0"/>
                        <a:t>F1 SCORE</a:t>
                      </a:r>
                      <a:endParaRPr lang="en-IN" dirty="0"/>
                    </a:p>
                  </a:txBody>
                  <a:tcPr/>
                </a:tc>
                <a:tc>
                  <a:txBody>
                    <a:bodyPr/>
                    <a:lstStyle/>
                    <a:p>
                      <a:pPr algn="ctr"/>
                      <a:r>
                        <a:rPr lang="en-US" dirty="0"/>
                        <a:t>RECALL</a:t>
                      </a:r>
                      <a:endParaRPr lang="en-IN" dirty="0"/>
                    </a:p>
                  </a:txBody>
                  <a:tcPr/>
                </a:tc>
                <a:tc>
                  <a:txBody>
                    <a:bodyPr/>
                    <a:lstStyle/>
                    <a:p>
                      <a:pPr algn="ctr"/>
                      <a:r>
                        <a:rPr lang="en-US" dirty="0"/>
                        <a:t>PRECISION </a:t>
                      </a:r>
                      <a:endParaRPr lang="en-IN" dirty="0"/>
                    </a:p>
                  </a:txBody>
                  <a:tcPr/>
                </a:tc>
                <a:extLst>
                  <a:ext uri="{0D108BD9-81ED-4DB2-BD59-A6C34878D82A}">
                    <a16:rowId xmlns:a16="http://schemas.microsoft.com/office/drawing/2014/main" val="3501095308"/>
                  </a:ext>
                </a:extLst>
              </a:tr>
              <a:tr h="370840">
                <a:tc>
                  <a:txBody>
                    <a:bodyPr/>
                    <a:lstStyle/>
                    <a:p>
                      <a:pPr algn="ctr"/>
                      <a:r>
                        <a:rPr lang="en-US" dirty="0"/>
                        <a:t>LOGISTICS REGRESSION</a:t>
                      </a:r>
                      <a:endParaRPr lang="en-IN" dirty="0"/>
                    </a:p>
                  </a:txBody>
                  <a:tcPr/>
                </a:tc>
                <a:tc>
                  <a:txBody>
                    <a:bodyPr/>
                    <a:lstStyle/>
                    <a:p>
                      <a:pPr algn="ctr"/>
                      <a:r>
                        <a:rPr lang="en-US" dirty="0"/>
                        <a:t>0.9424</a:t>
                      </a:r>
                      <a:endParaRPr lang="en-IN" dirty="0"/>
                    </a:p>
                  </a:txBody>
                  <a:tcPr/>
                </a:tc>
                <a:tc>
                  <a:txBody>
                    <a:bodyPr/>
                    <a:lstStyle/>
                    <a:p>
                      <a:pPr algn="ctr"/>
                      <a:r>
                        <a:rPr lang="en-US" dirty="0"/>
                        <a:t>0.9586</a:t>
                      </a:r>
                      <a:endParaRPr lang="en-IN" dirty="0"/>
                    </a:p>
                  </a:txBody>
                  <a:tcPr/>
                </a:tc>
                <a:tc>
                  <a:txBody>
                    <a:bodyPr/>
                    <a:lstStyle/>
                    <a:p>
                      <a:pPr algn="ctr"/>
                      <a:r>
                        <a:rPr lang="en-US" dirty="0"/>
                        <a:t>0.9878</a:t>
                      </a:r>
                      <a:endParaRPr lang="en-IN" dirty="0"/>
                    </a:p>
                  </a:txBody>
                  <a:tcPr/>
                </a:tc>
                <a:tc>
                  <a:txBody>
                    <a:bodyPr/>
                    <a:lstStyle/>
                    <a:p>
                      <a:pPr algn="ctr"/>
                      <a:r>
                        <a:rPr lang="en-US" dirty="0"/>
                        <a:t>0.9310</a:t>
                      </a:r>
                      <a:endParaRPr lang="en-IN" dirty="0"/>
                    </a:p>
                  </a:txBody>
                  <a:tcPr/>
                </a:tc>
                <a:extLst>
                  <a:ext uri="{0D108BD9-81ED-4DB2-BD59-A6C34878D82A}">
                    <a16:rowId xmlns:a16="http://schemas.microsoft.com/office/drawing/2014/main" val="1811735599"/>
                  </a:ext>
                </a:extLst>
              </a:tr>
              <a:tr h="370840">
                <a:tc>
                  <a:txBody>
                    <a:bodyPr/>
                    <a:lstStyle/>
                    <a:p>
                      <a:pPr algn="ctr"/>
                      <a:r>
                        <a:rPr lang="en-US" dirty="0"/>
                        <a:t>SOPPORT VECTOR MACHINE</a:t>
                      </a:r>
                      <a:endParaRPr lang="en-IN" dirty="0"/>
                    </a:p>
                  </a:txBody>
                  <a:tcPr/>
                </a:tc>
                <a:tc>
                  <a:txBody>
                    <a:bodyPr/>
                    <a:lstStyle/>
                    <a:p>
                      <a:pPr algn="ctr"/>
                      <a:r>
                        <a:rPr lang="en-US" dirty="0"/>
                        <a:t>0.9469</a:t>
                      </a:r>
                      <a:endParaRPr lang="en-IN" dirty="0"/>
                    </a:p>
                  </a:txBody>
                  <a:tcPr/>
                </a:tc>
                <a:tc>
                  <a:txBody>
                    <a:bodyPr/>
                    <a:lstStyle/>
                    <a:p>
                      <a:pPr algn="ctr"/>
                      <a:r>
                        <a:rPr lang="en-US" dirty="0"/>
                        <a:t>0.9610</a:t>
                      </a:r>
                      <a:endParaRPr lang="en-IN" dirty="0"/>
                    </a:p>
                  </a:txBody>
                  <a:tcPr/>
                </a:tc>
                <a:tc>
                  <a:txBody>
                    <a:bodyPr/>
                    <a:lstStyle/>
                    <a:p>
                      <a:pPr algn="ctr"/>
                      <a:r>
                        <a:rPr lang="en-US" dirty="0"/>
                        <a:t>0.9756</a:t>
                      </a:r>
                      <a:endParaRPr lang="en-IN" dirty="0"/>
                    </a:p>
                  </a:txBody>
                  <a:tcPr/>
                </a:tc>
                <a:tc>
                  <a:txBody>
                    <a:bodyPr/>
                    <a:lstStyle/>
                    <a:p>
                      <a:pPr algn="ctr"/>
                      <a:r>
                        <a:rPr lang="en-US" dirty="0"/>
                        <a:t>0.6794</a:t>
                      </a:r>
                      <a:endParaRPr lang="en-IN" dirty="0"/>
                    </a:p>
                  </a:txBody>
                  <a:tcPr/>
                </a:tc>
                <a:extLst>
                  <a:ext uri="{0D108BD9-81ED-4DB2-BD59-A6C34878D82A}">
                    <a16:rowId xmlns:a16="http://schemas.microsoft.com/office/drawing/2014/main" val="2452298399"/>
                  </a:ext>
                </a:extLst>
              </a:tr>
              <a:tr h="370840">
                <a:tc>
                  <a:txBody>
                    <a:bodyPr/>
                    <a:lstStyle/>
                    <a:p>
                      <a:pPr algn="ctr"/>
                      <a:r>
                        <a:rPr lang="en-US" dirty="0"/>
                        <a:t>CONVOLUTION NEURAL NETWORK</a:t>
                      </a:r>
                      <a:endParaRPr lang="en-IN" dirty="0"/>
                    </a:p>
                  </a:txBody>
                  <a:tcPr/>
                </a:tc>
                <a:tc>
                  <a:txBody>
                    <a:bodyPr/>
                    <a:lstStyle/>
                    <a:p>
                      <a:pPr algn="ctr"/>
                      <a:r>
                        <a:rPr lang="en-US" dirty="0"/>
                        <a:t>0.9673</a:t>
                      </a:r>
                      <a:endParaRPr lang="en-IN" dirty="0"/>
                    </a:p>
                  </a:txBody>
                  <a:tcPr/>
                </a:tc>
                <a:tc>
                  <a:txBody>
                    <a:bodyPr/>
                    <a:lstStyle/>
                    <a:p>
                      <a:pPr algn="ctr"/>
                      <a:r>
                        <a:rPr lang="en-US" dirty="0"/>
                        <a:t>0.9750</a:t>
                      </a:r>
                      <a:endParaRPr lang="en-IN" dirty="0"/>
                    </a:p>
                  </a:txBody>
                  <a:tcPr/>
                </a:tc>
                <a:tc>
                  <a:txBody>
                    <a:bodyPr/>
                    <a:lstStyle/>
                    <a:p>
                      <a:pPr algn="ctr"/>
                      <a:r>
                        <a:rPr lang="en-US" dirty="0"/>
                        <a:t>0.9512</a:t>
                      </a:r>
                      <a:endParaRPr lang="en-IN" dirty="0"/>
                    </a:p>
                  </a:txBody>
                  <a:tcPr/>
                </a:tc>
                <a:tc>
                  <a:txBody>
                    <a:bodyPr/>
                    <a:lstStyle/>
                    <a:p>
                      <a:pPr algn="ctr"/>
                      <a:r>
                        <a:rPr lang="en-US" dirty="0"/>
                        <a:t>1.00</a:t>
                      </a:r>
                    </a:p>
                    <a:p>
                      <a:pPr algn="ctr"/>
                      <a:endParaRPr lang="en-IN" dirty="0"/>
                    </a:p>
                  </a:txBody>
                  <a:tcPr/>
                </a:tc>
                <a:extLst>
                  <a:ext uri="{0D108BD9-81ED-4DB2-BD59-A6C34878D82A}">
                    <a16:rowId xmlns:a16="http://schemas.microsoft.com/office/drawing/2014/main" val="570377525"/>
                  </a:ext>
                </a:extLst>
              </a:tr>
              <a:tr h="370840">
                <a:tc>
                  <a:txBody>
                    <a:bodyPr/>
                    <a:lstStyle/>
                    <a:p>
                      <a:pPr algn="ctr"/>
                      <a:r>
                        <a:rPr lang="en-US" dirty="0"/>
                        <a:t>VGG-16</a:t>
                      </a:r>
                      <a:endParaRPr lang="en-IN" dirty="0"/>
                    </a:p>
                  </a:txBody>
                  <a:tcPr/>
                </a:tc>
                <a:tc>
                  <a:txBody>
                    <a:bodyPr/>
                    <a:lstStyle/>
                    <a:p>
                      <a:pPr algn="ctr"/>
                      <a:r>
                        <a:rPr lang="en-US" dirty="0"/>
                        <a:t>0.9714</a:t>
                      </a:r>
                      <a:endParaRPr lang="en-IN" dirty="0"/>
                    </a:p>
                  </a:txBody>
                  <a:tcPr/>
                </a:tc>
                <a:tc>
                  <a:txBody>
                    <a:bodyPr/>
                    <a:lstStyle/>
                    <a:p>
                      <a:pPr algn="ctr"/>
                      <a:r>
                        <a:rPr lang="en-US" dirty="0"/>
                        <a:t>0.97</a:t>
                      </a:r>
                      <a:endParaRPr lang="en-IN" dirty="0"/>
                    </a:p>
                  </a:txBody>
                  <a:tcPr/>
                </a:tc>
                <a:tc>
                  <a:txBody>
                    <a:bodyPr/>
                    <a:lstStyle/>
                    <a:p>
                      <a:pPr algn="ctr"/>
                      <a:r>
                        <a:rPr lang="en-US" dirty="0"/>
                        <a:t>0.97</a:t>
                      </a:r>
                      <a:endParaRPr lang="en-IN" dirty="0"/>
                    </a:p>
                  </a:txBody>
                  <a:tcPr/>
                </a:tc>
                <a:tc>
                  <a:txBody>
                    <a:bodyPr/>
                    <a:lstStyle/>
                    <a:p>
                      <a:pPr algn="ctr"/>
                      <a:r>
                        <a:rPr lang="en-US" dirty="0"/>
                        <a:t>0.98</a:t>
                      </a:r>
                      <a:endParaRPr lang="en-IN" dirty="0"/>
                    </a:p>
                  </a:txBody>
                  <a:tcPr/>
                </a:tc>
                <a:extLst>
                  <a:ext uri="{0D108BD9-81ED-4DB2-BD59-A6C34878D82A}">
                    <a16:rowId xmlns:a16="http://schemas.microsoft.com/office/drawing/2014/main" val="4077413898"/>
                  </a:ext>
                </a:extLst>
              </a:tr>
            </a:tbl>
          </a:graphicData>
        </a:graphic>
      </p:graphicFrame>
      <p:sp>
        <p:nvSpPr>
          <p:cNvPr id="4" name="TextBox 3">
            <a:extLst>
              <a:ext uri="{FF2B5EF4-FFF2-40B4-BE49-F238E27FC236}">
                <a16:creationId xmlns:a16="http://schemas.microsoft.com/office/drawing/2014/main" id="{30FAC34A-FCA8-0FDE-7C6B-28CEDC172FE0}"/>
              </a:ext>
            </a:extLst>
          </p:cNvPr>
          <p:cNvSpPr txBox="1"/>
          <p:nvPr/>
        </p:nvSpPr>
        <p:spPr>
          <a:xfrm>
            <a:off x="891540" y="3784600"/>
            <a:ext cx="5372100" cy="660400"/>
          </a:xfrm>
          <a:prstGeom prst="rect">
            <a:avLst/>
          </a:prstGeom>
          <a:noFill/>
        </p:spPr>
        <p:txBody>
          <a:bodyPr wrap="square" rtlCol="0">
            <a:spAutoFit/>
          </a:bodyPr>
          <a:lstStyle/>
          <a:p>
            <a:pPr marL="285750" indent="-28575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 MODEL WITH WAVELET AND INT </a:t>
            </a:r>
            <a:br>
              <a:rPr lang="en-IN" dirty="0">
                <a:latin typeface="Times New Roman" panose="02020603050405020304" pitchFamily="18" charset="0"/>
                <a:cs typeface="Times New Roman" panose="02020603050405020304" pitchFamily="18" charset="0"/>
              </a:rPr>
            </a:br>
            <a:endParaRPr lang="en-IN" dirty="0"/>
          </a:p>
        </p:txBody>
      </p:sp>
      <p:graphicFrame>
        <p:nvGraphicFramePr>
          <p:cNvPr id="8" name="Table 7">
            <a:extLst>
              <a:ext uri="{FF2B5EF4-FFF2-40B4-BE49-F238E27FC236}">
                <a16:creationId xmlns:a16="http://schemas.microsoft.com/office/drawing/2014/main" id="{C218984A-8060-DE79-95A6-C68EFF150B8C}"/>
              </a:ext>
            </a:extLst>
          </p:cNvPr>
          <p:cNvGraphicFramePr>
            <a:graphicFrameLocks noGrp="1"/>
          </p:cNvGraphicFramePr>
          <p:nvPr>
            <p:extLst>
              <p:ext uri="{D42A27DB-BD31-4B8C-83A1-F6EECF244321}">
                <p14:modId xmlns:p14="http://schemas.microsoft.com/office/powerpoint/2010/main" val="494286767"/>
              </p:ext>
            </p:extLst>
          </p:nvPr>
        </p:nvGraphicFramePr>
        <p:xfrm>
          <a:off x="2567940" y="4445001"/>
          <a:ext cx="8252460" cy="2219960"/>
        </p:xfrm>
        <a:graphic>
          <a:graphicData uri="http://schemas.openxmlformats.org/drawingml/2006/table">
            <a:tbl>
              <a:tblPr firstRow="1" bandRow="1">
                <a:tableStyleId>{5C22544A-7EE6-4342-B048-85BDC9FD1C3A}</a:tableStyleId>
              </a:tblPr>
              <a:tblGrid>
                <a:gridCol w="1650492">
                  <a:extLst>
                    <a:ext uri="{9D8B030D-6E8A-4147-A177-3AD203B41FA5}">
                      <a16:colId xmlns:a16="http://schemas.microsoft.com/office/drawing/2014/main" val="4026460044"/>
                    </a:ext>
                  </a:extLst>
                </a:gridCol>
                <a:gridCol w="1650492">
                  <a:extLst>
                    <a:ext uri="{9D8B030D-6E8A-4147-A177-3AD203B41FA5}">
                      <a16:colId xmlns:a16="http://schemas.microsoft.com/office/drawing/2014/main" val="1756825914"/>
                    </a:ext>
                  </a:extLst>
                </a:gridCol>
                <a:gridCol w="1650492">
                  <a:extLst>
                    <a:ext uri="{9D8B030D-6E8A-4147-A177-3AD203B41FA5}">
                      <a16:colId xmlns:a16="http://schemas.microsoft.com/office/drawing/2014/main" val="1170834121"/>
                    </a:ext>
                  </a:extLst>
                </a:gridCol>
                <a:gridCol w="1650492">
                  <a:extLst>
                    <a:ext uri="{9D8B030D-6E8A-4147-A177-3AD203B41FA5}">
                      <a16:colId xmlns:a16="http://schemas.microsoft.com/office/drawing/2014/main" val="3177665677"/>
                    </a:ext>
                  </a:extLst>
                </a:gridCol>
                <a:gridCol w="1650492">
                  <a:extLst>
                    <a:ext uri="{9D8B030D-6E8A-4147-A177-3AD203B41FA5}">
                      <a16:colId xmlns:a16="http://schemas.microsoft.com/office/drawing/2014/main" val="3729854871"/>
                    </a:ext>
                  </a:extLst>
                </a:gridCol>
              </a:tblGrid>
              <a:tr h="575447">
                <a:tc>
                  <a:txBody>
                    <a:bodyPr/>
                    <a:lstStyle/>
                    <a:p>
                      <a:pPr algn="ctr"/>
                      <a:r>
                        <a:rPr lang="en-US" dirty="0"/>
                        <a:t>ALL MODEL</a:t>
                      </a:r>
                      <a:endParaRPr lang="en-IN" dirty="0"/>
                    </a:p>
                  </a:txBody>
                  <a:tcPr/>
                </a:tc>
                <a:tc>
                  <a:txBody>
                    <a:bodyPr/>
                    <a:lstStyle/>
                    <a:p>
                      <a:pPr algn="ctr"/>
                      <a:r>
                        <a:rPr lang="en-US" dirty="0"/>
                        <a:t>ACCURACY</a:t>
                      </a:r>
                      <a:endParaRPr lang="en-IN" dirty="0"/>
                    </a:p>
                  </a:txBody>
                  <a:tcPr/>
                </a:tc>
                <a:tc>
                  <a:txBody>
                    <a:bodyPr/>
                    <a:lstStyle/>
                    <a:p>
                      <a:pPr algn="ctr"/>
                      <a:r>
                        <a:rPr lang="en-US" dirty="0"/>
                        <a:t>F1 SCORE</a:t>
                      </a:r>
                      <a:endParaRPr lang="en-IN" dirty="0"/>
                    </a:p>
                  </a:txBody>
                  <a:tcPr/>
                </a:tc>
                <a:tc>
                  <a:txBody>
                    <a:bodyPr/>
                    <a:lstStyle/>
                    <a:p>
                      <a:pPr algn="ctr"/>
                      <a:r>
                        <a:rPr lang="en-US" dirty="0"/>
                        <a:t>RECALL</a:t>
                      </a:r>
                      <a:endParaRPr lang="en-IN" dirty="0"/>
                    </a:p>
                  </a:txBody>
                  <a:tcPr/>
                </a:tc>
                <a:tc>
                  <a:txBody>
                    <a:bodyPr/>
                    <a:lstStyle/>
                    <a:p>
                      <a:pPr algn="ctr"/>
                      <a:r>
                        <a:rPr lang="en-US" dirty="0"/>
                        <a:t>PRECISION </a:t>
                      </a:r>
                      <a:endParaRPr lang="en-IN" dirty="0"/>
                    </a:p>
                  </a:txBody>
                  <a:tcPr/>
                </a:tc>
                <a:extLst>
                  <a:ext uri="{0D108BD9-81ED-4DB2-BD59-A6C34878D82A}">
                    <a16:rowId xmlns:a16="http://schemas.microsoft.com/office/drawing/2014/main" val="3246158170"/>
                  </a:ext>
                </a:extLst>
              </a:tr>
              <a:tr h="1069066">
                <a:tc>
                  <a:txBody>
                    <a:bodyPr/>
                    <a:lstStyle/>
                    <a:p>
                      <a:pPr algn="ctr"/>
                      <a:r>
                        <a:rPr lang="en-US" dirty="0"/>
                        <a:t>CONVOLUTION NEURAL NETWORK</a:t>
                      </a:r>
                      <a:endParaRPr lang="en-IN" dirty="0"/>
                    </a:p>
                  </a:txBody>
                  <a:tcPr/>
                </a:tc>
                <a:tc>
                  <a:txBody>
                    <a:bodyPr/>
                    <a:lstStyle/>
                    <a:p>
                      <a:pPr algn="ctr"/>
                      <a:r>
                        <a:rPr lang="en-US" dirty="0"/>
                        <a:t>0.9837</a:t>
                      </a:r>
                      <a:endParaRPr lang="en-IN" dirty="0"/>
                    </a:p>
                  </a:txBody>
                  <a:tcPr/>
                </a:tc>
                <a:tc>
                  <a:txBody>
                    <a:bodyPr/>
                    <a:lstStyle/>
                    <a:p>
                      <a:pPr algn="ctr"/>
                      <a:r>
                        <a:rPr lang="en-US" dirty="0"/>
                        <a:t>0.9878</a:t>
                      </a:r>
                      <a:endParaRPr lang="en-IN" dirty="0"/>
                    </a:p>
                  </a:txBody>
                  <a:tcPr/>
                </a:tc>
                <a:tc>
                  <a:txBody>
                    <a:bodyPr/>
                    <a:lstStyle/>
                    <a:p>
                      <a:pPr algn="ctr"/>
                      <a:r>
                        <a:rPr lang="en-US" dirty="0"/>
                        <a:t>0.9878</a:t>
                      </a:r>
                      <a:endParaRPr lang="en-IN" dirty="0"/>
                    </a:p>
                  </a:txBody>
                  <a:tcPr/>
                </a:tc>
                <a:tc>
                  <a:txBody>
                    <a:bodyPr/>
                    <a:lstStyle/>
                    <a:p>
                      <a:pPr algn="ctr"/>
                      <a:r>
                        <a:rPr lang="en-US" dirty="0"/>
                        <a:t>0.9878</a:t>
                      </a:r>
                      <a:endParaRPr lang="en-IN" dirty="0"/>
                    </a:p>
                  </a:txBody>
                  <a:tcPr/>
                </a:tc>
                <a:extLst>
                  <a:ext uri="{0D108BD9-81ED-4DB2-BD59-A6C34878D82A}">
                    <a16:rowId xmlns:a16="http://schemas.microsoft.com/office/drawing/2014/main" val="2078143547"/>
                  </a:ext>
                </a:extLst>
              </a:tr>
              <a:tr h="575447">
                <a:tc>
                  <a:txBody>
                    <a:bodyPr/>
                    <a:lstStyle/>
                    <a:p>
                      <a:pPr algn="ctr"/>
                      <a:r>
                        <a:rPr lang="en-US" dirty="0"/>
                        <a:t>VGG-16</a:t>
                      </a:r>
                      <a:endParaRPr lang="en-IN" dirty="0"/>
                    </a:p>
                  </a:txBody>
                  <a:tcPr/>
                </a:tc>
                <a:tc>
                  <a:txBody>
                    <a:bodyPr/>
                    <a:lstStyle/>
                    <a:p>
                      <a:pPr algn="ctr"/>
                      <a:r>
                        <a:rPr lang="en-US" dirty="0"/>
                        <a:t>0.9918</a:t>
                      </a:r>
                      <a:endParaRPr lang="en-IN" dirty="0"/>
                    </a:p>
                  </a:txBody>
                  <a:tcPr/>
                </a:tc>
                <a:tc>
                  <a:txBody>
                    <a:bodyPr/>
                    <a:lstStyle/>
                    <a:p>
                      <a:pPr algn="ctr"/>
                      <a:r>
                        <a:rPr lang="en-US" dirty="0"/>
                        <a:t>0,99</a:t>
                      </a:r>
                      <a:endParaRPr lang="en-IN" dirty="0"/>
                    </a:p>
                  </a:txBody>
                  <a:tcPr/>
                </a:tc>
                <a:tc>
                  <a:txBody>
                    <a:bodyPr/>
                    <a:lstStyle/>
                    <a:p>
                      <a:pPr algn="ctr"/>
                      <a:r>
                        <a:rPr lang="en-US" dirty="0"/>
                        <a:t>0.99</a:t>
                      </a:r>
                      <a:endParaRPr lang="en-IN" dirty="0"/>
                    </a:p>
                  </a:txBody>
                  <a:tcPr/>
                </a:tc>
                <a:tc>
                  <a:txBody>
                    <a:bodyPr/>
                    <a:lstStyle/>
                    <a:p>
                      <a:pPr algn="ctr"/>
                      <a:r>
                        <a:rPr lang="en-US" dirty="0"/>
                        <a:t>1.00</a:t>
                      </a:r>
                      <a:endParaRPr lang="en-IN" dirty="0"/>
                    </a:p>
                  </a:txBody>
                  <a:tcPr/>
                </a:tc>
                <a:extLst>
                  <a:ext uri="{0D108BD9-81ED-4DB2-BD59-A6C34878D82A}">
                    <a16:rowId xmlns:a16="http://schemas.microsoft.com/office/drawing/2014/main" val="2538486356"/>
                  </a:ext>
                </a:extLst>
              </a:tr>
            </a:tbl>
          </a:graphicData>
        </a:graphic>
      </p:graphicFrame>
    </p:spTree>
    <p:extLst>
      <p:ext uri="{BB962C8B-B14F-4D97-AF65-F5344CB8AC3E}">
        <p14:creationId xmlns:p14="http://schemas.microsoft.com/office/powerpoint/2010/main" val="3851539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60F2F-1F13-3A0A-7C17-977D02568A79}"/>
              </a:ext>
            </a:extLst>
          </p:cNvPr>
          <p:cNvSpPr>
            <a:spLocks noGrp="1"/>
          </p:cNvSpPr>
          <p:nvPr>
            <p:ph type="title"/>
          </p:nvPr>
        </p:nvSpPr>
        <p:spPr>
          <a:xfrm>
            <a:off x="944880" y="147320"/>
            <a:ext cx="11409680" cy="695960"/>
          </a:xfrm>
        </p:spPr>
        <p:txBody>
          <a:bodyPr>
            <a:normAutofit/>
          </a:bodyPr>
          <a:lstStyle/>
          <a:p>
            <a:pPr marL="571500" indent="-571500">
              <a:buFont typeface="Wingdings" panose="05000000000000000000" pitchFamily="2" charset="2"/>
              <a:buChar char="q"/>
            </a:pPr>
            <a:r>
              <a:rPr lang="en-US" sz="2800" b="1" dirty="0">
                <a:solidFill>
                  <a:srgbClr val="002060"/>
                </a:solidFill>
                <a:latin typeface="Times New Roman" panose="02020603050405020304" pitchFamily="18" charset="0"/>
                <a:cs typeface="Times New Roman" panose="02020603050405020304" pitchFamily="18" charset="0"/>
              </a:rPr>
              <a:t> </a:t>
            </a:r>
            <a:r>
              <a:rPr lang="en-US" sz="2800" b="1" u="sng" dirty="0">
                <a:solidFill>
                  <a:srgbClr val="002060"/>
                </a:solidFill>
                <a:latin typeface="Times New Roman" panose="02020603050405020304" pitchFamily="18" charset="0"/>
                <a:cs typeface="Times New Roman" panose="02020603050405020304" pitchFamily="18" charset="0"/>
              </a:rPr>
              <a:t>EXISTING MODELS FOR COMPARISON </a:t>
            </a:r>
            <a:endParaRPr lang="en-IN" sz="2800" b="1" u="sng"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A03A600-1C30-A941-C1E8-E91003DE69AC}"/>
              </a:ext>
            </a:extLst>
          </p:cNvPr>
          <p:cNvGraphicFramePr>
            <a:graphicFrameLocks noGrp="1"/>
          </p:cNvGraphicFramePr>
          <p:nvPr>
            <p:extLst>
              <p:ext uri="{D42A27DB-BD31-4B8C-83A1-F6EECF244321}">
                <p14:modId xmlns:p14="http://schemas.microsoft.com/office/powerpoint/2010/main" val="3319614053"/>
              </p:ext>
            </p:extLst>
          </p:nvPr>
        </p:nvGraphicFramePr>
        <p:xfrm>
          <a:off x="1747520" y="843280"/>
          <a:ext cx="9626496" cy="5949405"/>
        </p:xfrm>
        <a:graphic>
          <a:graphicData uri="http://schemas.openxmlformats.org/drawingml/2006/table">
            <a:tbl>
              <a:tblPr firstRow="1" firstCol="1" bandRow="1">
                <a:tableStyleId>{5C22544A-7EE6-4342-B048-85BDC9FD1C3A}</a:tableStyleId>
              </a:tblPr>
              <a:tblGrid>
                <a:gridCol w="1464764">
                  <a:extLst>
                    <a:ext uri="{9D8B030D-6E8A-4147-A177-3AD203B41FA5}">
                      <a16:colId xmlns:a16="http://schemas.microsoft.com/office/drawing/2014/main" val="2632391348"/>
                    </a:ext>
                  </a:extLst>
                </a:gridCol>
                <a:gridCol w="1000887">
                  <a:extLst>
                    <a:ext uri="{9D8B030D-6E8A-4147-A177-3AD203B41FA5}">
                      <a16:colId xmlns:a16="http://schemas.microsoft.com/office/drawing/2014/main" val="3755547997"/>
                    </a:ext>
                  </a:extLst>
                </a:gridCol>
                <a:gridCol w="1508646">
                  <a:extLst>
                    <a:ext uri="{9D8B030D-6E8A-4147-A177-3AD203B41FA5}">
                      <a16:colId xmlns:a16="http://schemas.microsoft.com/office/drawing/2014/main" val="3777662169"/>
                    </a:ext>
                  </a:extLst>
                </a:gridCol>
                <a:gridCol w="1453274">
                  <a:extLst>
                    <a:ext uri="{9D8B030D-6E8A-4147-A177-3AD203B41FA5}">
                      <a16:colId xmlns:a16="http://schemas.microsoft.com/office/drawing/2014/main" val="2117891852"/>
                    </a:ext>
                  </a:extLst>
                </a:gridCol>
                <a:gridCol w="1401036">
                  <a:extLst>
                    <a:ext uri="{9D8B030D-6E8A-4147-A177-3AD203B41FA5}">
                      <a16:colId xmlns:a16="http://schemas.microsoft.com/office/drawing/2014/main" val="2445790039"/>
                    </a:ext>
                  </a:extLst>
                </a:gridCol>
                <a:gridCol w="1067753">
                  <a:extLst>
                    <a:ext uri="{9D8B030D-6E8A-4147-A177-3AD203B41FA5}">
                      <a16:colId xmlns:a16="http://schemas.microsoft.com/office/drawing/2014/main" val="1679466329"/>
                    </a:ext>
                  </a:extLst>
                </a:gridCol>
                <a:gridCol w="1730136">
                  <a:extLst>
                    <a:ext uri="{9D8B030D-6E8A-4147-A177-3AD203B41FA5}">
                      <a16:colId xmlns:a16="http://schemas.microsoft.com/office/drawing/2014/main" val="2490571840"/>
                    </a:ext>
                  </a:extLst>
                </a:gridCol>
              </a:tblGrid>
              <a:tr h="365671">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AUTHORS</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YEAR</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MODEL</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ACCURACY</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PRECISION</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RECALL </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F1-SCORE</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3119008243"/>
                  </a:ext>
                </a:extLst>
              </a:tr>
              <a:tr h="234739">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Badza et al. </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CNN</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96.56%</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94.81%</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94.81%</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94.94%</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2663852740"/>
                  </a:ext>
                </a:extLst>
              </a:tr>
              <a:tr h="479351">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Hashemzehi et al. </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CNN and NAND</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96.00%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94.49%</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94.49%</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94.56%</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1296061472"/>
                  </a:ext>
                </a:extLst>
              </a:tr>
              <a:tr h="479351">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Díaz-Pernas et al.</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2021</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Multi-scale CNN</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97.00%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95.80%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95.80%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96.07%</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4114319374"/>
                  </a:ext>
                </a:extLst>
              </a:tr>
              <a:tr h="234739">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Sajja et al</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2021</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Deep-CNN</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97.00%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97.05%</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97.05%</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97.05%</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346667627"/>
                  </a:ext>
                </a:extLst>
              </a:tr>
              <a:tr h="1716770">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D. R Nayak  , N.M Padhy , P.K Mallick , Mikhail Zymbler and Sachin Kumar</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2022</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Dense Efficient-Net</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98.78%</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98.75%</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dirty="0">
                          <a:effectLst/>
                          <a:latin typeface="Times New Roman" panose="02020603050405020304" pitchFamily="18" charset="0"/>
                          <a:cs typeface="Times New Roman" panose="02020603050405020304" pitchFamily="18" charset="0"/>
                        </a:rPr>
                        <a:t>98.75%</a:t>
                      </a:r>
                      <a:endParaRPr lang="en-IN" sz="9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dirty="0">
                          <a:effectLst/>
                          <a:latin typeface="Times New Roman" panose="02020603050405020304" pitchFamily="18" charset="0"/>
                          <a:cs typeface="Times New Roman" panose="02020603050405020304" pitchFamily="18" charset="0"/>
                        </a:rPr>
                        <a:t>98.75%</a:t>
                      </a:r>
                      <a:endParaRPr lang="en-IN" sz="9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1756011576"/>
                  </a:ext>
                </a:extLst>
              </a:tr>
              <a:tr h="490145">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Baiju Babu Vimala et al</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2023</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EfficientNet-B2</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99.06%</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98.73%</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99.13%</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98.79%</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2343635894"/>
                  </a:ext>
                </a:extLst>
              </a:tr>
              <a:tr h="726835">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Francisco Javier Dfaz-Pernas et al</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2024</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Multiscale-CNN</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97.30%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     -</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2254555756"/>
                  </a:ext>
                </a:extLst>
              </a:tr>
              <a:tr h="1221804">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Proposed Model</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Present</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Enhanced VGG-16 with wavelet and INT function</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99.18%</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99.00%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a:effectLst/>
                          <a:latin typeface="Times New Roman" panose="02020603050405020304" pitchFamily="18" charset="0"/>
                          <a:cs typeface="Times New Roman" panose="02020603050405020304" pitchFamily="18" charset="0"/>
                        </a:rPr>
                        <a:t>99.00%</a:t>
                      </a:r>
                      <a:endParaRPr lang="en-IN" sz="9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tc>
                  <a:txBody>
                    <a:bodyPr/>
                    <a:lstStyle/>
                    <a:p>
                      <a:pPr algn="ctr">
                        <a:lnSpc>
                          <a:spcPct val="115000"/>
                        </a:lnSpc>
                        <a:spcAft>
                          <a:spcPts val="800"/>
                        </a:spcAft>
                        <a:buNone/>
                      </a:pPr>
                      <a:r>
                        <a:rPr lang="en-IN" sz="900" kern="100" dirty="0">
                          <a:effectLst/>
                          <a:latin typeface="Times New Roman" panose="02020603050405020304" pitchFamily="18" charset="0"/>
                          <a:cs typeface="Times New Roman" panose="02020603050405020304" pitchFamily="18" charset="0"/>
                        </a:rPr>
                        <a:t>99.00%</a:t>
                      </a:r>
                      <a:endParaRPr lang="en-IN" sz="9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9840" marR="49840" marT="0" marB="0"/>
                </a:tc>
                <a:extLst>
                  <a:ext uri="{0D108BD9-81ED-4DB2-BD59-A6C34878D82A}">
                    <a16:rowId xmlns:a16="http://schemas.microsoft.com/office/drawing/2014/main" val="2575747727"/>
                  </a:ext>
                </a:extLst>
              </a:tr>
            </a:tbl>
          </a:graphicData>
        </a:graphic>
      </p:graphicFrame>
    </p:spTree>
    <p:extLst>
      <p:ext uri="{BB962C8B-B14F-4D97-AF65-F5344CB8AC3E}">
        <p14:creationId xmlns:p14="http://schemas.microsoft.com/office/powerpoint/2010/main" val="136529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8605-29D2-8849-7893-FF6099441B18}"/>
              </a:ext>
            </a:extLst>
          </p:cNvPr>
          <p:cNvSpPr>
            <a:spLocks noGrp="1"/>
          </p:cNvSpPr>
          <p:nvPr>
            <p:ph type="title"/>
          </p:nvPr>
        </p:nvSpPr>
        <p:spPr>
          <a:xfrm>
            <a:off x="1137920" y="360680"/>
            <a:ext cx="9601200" cy="1485900"/>
          </a:xfrm>
        </p:spPr>
        <p:txBody>
          <a:bodyPr/>
          <a:lstStyle/>
          <a:p>
            <a:pPr marL="571500" indent="-571500">
              <a:buFont typeface="Wingdings" panose="05000000000000000000" pitchFamily="2" charset="2"/>
              <a:buChar char="q"/>
            </a:pPr>
            <a:r>
              <a:rPr lang="en-US" b="1" u="sng" dirty="0">
                <a:solidFill>
                  <a:srgbClr val="002060"/>
                </a:solidFill>
                <a:latin typeface="Times New Roman" panose="02020603050405020304" pitchFamily="18" charset="0"/>
                <a:cs typeface="Times New Roman" panose="02020603050405020304" pitchFamily="18" charset="0"/>
              </a:rPr>
              <a:t>CONCLUSION</a:t>
            </a:r>
            <a:r>
              <a:rPr lang="en-US" dirty="0"/>
              <a:t> </a:t>
            </a:r>
            <a:endParaRPr lang="en-IN" dirty="0"/>
          </a:p>
        </p:txBody>
      </p:sp>
      <p:sp>
        <p:nvSpPr>
          <p:cNvPr id="3" name="TextBox 2">
            <a:extLst>
              <a:ext uri="{FF2B5EF4-FFF2-40B4-BE49-F238E27FC236}">
                <a16:creationId xmlns:a16="http://schemas.microsoft.com/office/drawing/2014/main" id="{7564D683-F99F-9C93-A819-6620894386F3}"/>
              </a:ext>
            </a:extLst>
          </p:cNvPr>
          <p:cNvSpPr txBox="1"/>
          <p:nvPr/>
        </p:nvSpPr>
        <p:spPr>
          <a:xfrm>
            <a:off x="1635760" y="1198880"/>
            <a:ext cx="10058400" cy="3139321"/>
          </a:xfrm>
          <a:prstGeom prst="rect">
            <a:avLst/>
          </a:prstGeom>
          <a:noFill/>
        </p:spPr>
        <p:txBody>
          <a:bodyPr wrap="square" rtlCol="0">
            <a:spAutoFit/>
          </a:bodyPr>
          <a:lstStyle/>
          <a:p>
            <a:r>
              <a:rPr lang="en-US" sz="2200" dirty="0">
                <a:solidFill>
                  <a:srgbClr val="002060"/>
                </a:solidFill>
                <a:latin typeface="Times New Roman" panose="02020603050405020304" pitchFamily="18" charset="0"/>
                <a:cs typeface="Times New Roman" panose="02020603050405020304" pitchFamily="18" charset="0"/>
              </a:rPr>
              <a:t>Brain tumor detection using CNN With Wavelet  has become a promising area of research in medical image analysis . Recent studies have demonstrated the effectiveness of deep learning-based approaches in accurately detecting and segmenting brain tumors, as well as predicting patient survival. Various CNN architectures have been utilized along with transfer learning techniques to improve model performance. However, there are still challenges and limitations that need to be addressed, such as the lack of annotated data and interpretability of deep learning models. Therefore, further research is needed to develop more robust and accurate models that can be used in clinical practice.</a:t>
            </a:r>
            <a:endParaRPr lang="en-IN"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646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8F00A5-CDFA-3042-A36D-DDF24FCAD783}"/>
              </a:ext>
            </a:extLst>
          </p:cNvPr>
          <p:cNvSpPr txBox="1"/>
          <p:nvPr/>
        </p:nvSpPr>
        <p:spPr>
          <a:xfrm>
            <a:off x="1023257" y="375375"/>
            <a:ext cx="10297886" cy="3871829"/>
          </a:xfrm>
          <a:prstGeom prst="rect">
            <a:avLst/>
          </a:prstGeom>
          <a:noFill/>
        </p:spPr>
        <p:txBody>
          <a:bodyPr wrap="square">
            <a:spAutoFit/>
          </a:bodyPr>
          <a:lstStyle/>
          <a:p>
            <a:pPr marL="571500" indent="-571500">
              <a:lnSpc>
                <a:spcPct val="107000"/>
              </a:lnSpc>
              <a:spcAft>
                <a:spcPts val="800"/>
              </a:spcAft>
              <a:buFont typeface="Wingdings" panose="05000000000000000000" pitchFamily="2" charset="2"/>
              <a:buChar char="q"/>
              <a:tabLst>
                <a:tab pos="1348740" algn="l"/>
              </a:tabLst>
            </a:pPr>
            <a:r>
              <a:rPr lang="en-US" sz="3200" b="1" u="sng"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FUTURE GOALS:-</a:t>
            </a:r>
          </a:p>
          <a:p>
            <a:pPr marL="342900" indent="-342900">
              <a:lnSpc>
                <a:spcPct val="107000"/>
              </a:lnSpc>
              <a:spcAft>
                <a:spcPts val="800"/>
              </a:spcAft>
              <a:buFont typeface="Arial" panose="020B0604020202020204" pitchFamily="34" charset="0"/>
              <a:buChar char="•"/>
              <a:tabLst>
                <a:tab pos="1348740" algn="l"/>
              </a:tabLst>
            </a:pPr>
            <a:r>
              <a:rPr lang="en-US" sz="2400"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We will work on reducing Overfitting.</a:t>
            </a:r>
          </a:p>
          <a:p>
            <a:pPr marL="342900" indent="-342900">
              <a:lnSpc>
                <a:spcPct val="107000"/>
              </a:lnSpc>
              <a:spcAft>
                <a:spcPts val="800"/>
              </a:spcAft>
              <a:buFont typeface="Arial" panose="020B0604020202020204" pitchFamily="34" charset="0"/>
              <a:buChar char="•"/>
              <a:tabLst>
                <a:tab pos="1348740" algn="l"/>
              </a:tabLst>
            </a:pPr>
            <a:r>
              <a:rPr lang="en-US" sz="2400"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Keep improving accuracy with new data and feedback.</a:t>
            </a:r>
          </a:p>
          <a:p>
            <a:pPr marL="342900" indent="-342900">
              <a:lnSpc>
                <a:spcPct val="107000"/>
              </a:lnSpc>
              <a:spcAft>
                <a:spcPts val="800"/>
              </a:spcAft>
              <a:buFont typeface="Arial" panose="020B0604020202020204" pitchFamily="34" charset="0"/>
              <a:buChar char="•"/>
              <a:tabLst>
                <a:tab pos="1348740" algn="l"/>
              </a:tabLst>
            </a:pPr>
            <a:r>
              <a:rPr lang="en-US" sz="2400"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Expand from 2D MRI slices to 3D volumetric analysis for better understanding  of tumor growth and location.</a:t>
            </a:r>
          </a:p>
          <a:p>
            <a:pPr marL="342900" indent="-342900">
              <a:lnSpc>
                <a:spcPct val="107000"/>
              </a:lnSpc>
              <a:spcAft>
                <a:spcPts val="800"/>
              </a:spcAft>
              <a:buFont typeface="Arial" panose="020B0604020202020204" pitchFamily="34" charset="0"/>
              <a:buChar char="•"/>
              <a:tabLst>
                <a:tab pos="1348740" algn="l"/>
              </a:tabLst>
            </a:pPr>
            <a:r>
              <a:rPr lang="en-US" sz="2400"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Develop a lightweight version for deployment  on mobile or web platforms for broader accessibility.</a:t>
            </a:r>
          </a:p>
          <a:p>
            <a:pPr marL="342900" indent="-342900">
              <a:lnSpc>
                <a:spcPct val="107000"/>
              </a:lnSpc>
              <a:spcAft>
                <a:spcPts val="800"/>
              </a:spcAft>
              <a:buFont typeface="Arial" panose="020B0604020202020204" pitchFamily="34" charset="0"/>
              <a:buChar char="•"/>
              <a:tabLst>
                <a:tab pos="1348740" algn="l"/>
              </a:tabLst>
            </a:pPr>
            <a:endParaRPr lang="en-US" sz="2400"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9982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6BA673-C497-DDAF-97B5-A20D9E8E5302}"/>
              </a:ext>
            </a:extLst>
          </p:cNvPr>
          <p:cNvSpPr txBox="1"/>
          <p:nvPr/>
        </p:nvSpPr>
        <p:spPr>
          <a:xfrm>
            <a:off x="1127760" y="416560"/>
            <a:ext cx="7792720" cy="677108"/>
          </a:xfrm>
          <a:prstGeom prst="rect">
            <a:avLst/>
          </a:prstGeom>
          <a:noFill/>
        </p:spPr>
        <p:txBody>
          <a:bodyPr wrap="square" rtlCol="0">
            <a:spAutoFit/>
          </a:bodyPr>
          <a:lstStyle/>
          <a:p>
            <a:pPr marL="571500" indent="-571500">
              <a:buFont typeface="Wingdings" panose="05000000000000000000" pitchFamily="2" charset="2"/>
              <a:buChar char="q"/>
            </a:pPr>
            <a:r>
              <a:rPr lang="en-US" sz="3800" u="sng" dirty="0">
                <a:solidFill>
                  <a:srgbClr val="002060"/>
                </a:solidFill>
                <a:latin typeface="Times New Roman" panose="02020603050405020304" pitchFamily="18" charset="0"/>
                <a:cs typeface="Times New Roman" panose="02020603050405020304" pitchFamily="18" charset="0"/>
              </a:rPr>
              <a:t>REFERENCES </a:t>
            </a:r>
            <a:endParaRPr lang="en-IN" sz="3800" u="sng"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CF849E-C1A3-F495-A876-41DC513051B0}"/>
              </a:ext>
            </a:extLst>
          </p:cNvPr>
          <p:cNvSpPr txBox="1"/>
          <p:nvPr/>
        </p:nvSpPr>
        <p:spPr>
          <a:xfrm>
            <a:off x="1127760" y="1463040"/>
            <a:ext cx="10779760" cy="5288627"/>
          </a:xfrm>
          <a:prstGeom prst="rect">
            <a:avLst/>
          </a:prstGeom>
          <a:noFill/>
        </p:spPr>
        <p:txBody>
          <a:bodyPr wrap="square" rtlCol="0">
            <a:spAutoFit/>
          </a:bodyPr>
          <a:lstStyle/>
          <a:p>
            <a:pPr algn="just">
              <a:spcBef>
                <a:spcPts val="400"/>
              </a:spcBef>
              <a:spcAft>
                <a:spcPts val="200"/>
              </a:spcAft>
              <a:buNone/>
            </a:pP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 H. Mohsen, E.-S. A. El-</a:t>
            </a:r>
            <a:r>
              <a:rPr lang="en-US" sz="18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Dahshan</a:t>
            </a: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E.-S. M. El-</a:t>
            </a:r>
            <a:r>
              <a:rPr lang="en-US" sz="18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Horbaty</a:t>
            </a: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and A.-B. M. Salem, “Classification using deep learning   neural networks for brain tumors,” Future Computing and Informatics Journal, pp. 68-71, 2018. </a:t>
            </a:r>
            <a:endParaRPr lang="en-IN" sz="1800" dirty="0">
              <a:solidFill>
                <a:srgbClr val="002060"/>
              </a:solidFill>
              <a:effectLst/>
              <a:latin typeface="Times New Roman" panose="02020603050405020304" pitchFamily="18" charset="0"/>
              <a:ea typeface="Times New Roman" panose="02020603050405020304" pitchFamily="18" charset="0"/>
            </a:endParaRPr>
          </a:p>
          <a:p>
            <a:pPr algn="just">
              <a:spcBef>
                <a:spcPts val="400"/>
              </a:spcBef>
              <a:spcAft>
                <a:spcPts val="200"/>
              </a:spcAft>
              <a:buNone/>
            </a:pP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[2] S. Bauer, C. May, D. Dionysiou, G. Stamatakos, P. Buchler and M. Reyes, “Multiscale modeling for Image Analysis of Brain Tumor Studies,” IEEE Transactions on Biomedical Engineering, vol. 59, no. 1, pp. 25-29, 2012. </a:t>
            </a:r>
            <a:endParaRPr lang="en-IN" sz="1800" dirty="0">
              <a:solidFill>
                <a:srgbClr val="002060"/>
              </a:solidFill>
              <a:effectLst/>
              <a:latin typeface="Times New Roman" panose="02020603050405020304" pitchFamily="18" charset="0"/>
              <a:ea typeface="Times New Roman" panose="02020603050405020304" pitchFamily="18" charset="0"/>
            </a:endParaRPr>
          </a:p>
          <a:p>
            <a:pPr algn="just">
              <a:spcBef>
                <a:spcPts val="400"/>
              </a:spcBef>
              <a:spcAft>
                <a:spcPts val="200"/>
              </a:spcAft>
              <a:buNone/>
            </a:pP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[3] Islam, S. M. Reza and K. M. </a:t>
            </a:r>
            <a:r>
              <a:rPr lang="en-US" sz="18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Iftekharuddin</a:t>
            </a: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“Multifractal texture estimation for detection and segmentation of brain tumors,” IEEE Transactions on Biomedical Engineering, pp. 3204-3215, 2013.</a:t>
            </a:r>
            <a:endParaRPr lang="en-IN" sz="1800" dirty="0">
              <a:solidFill>
                <a:srgbClr val="002060"/>
              </a:solidFill>
              <a:effectLst/>
              <a:latin typeface="Times New Roman" panose="02020603050405020304" pitchFamily="18" charset="0"/>
              <a:ea typeface="Times New Roman" panose="02020603050405020304" pitchFamily="18" charset="0"/>
            </a:endParaRPr>
          </a:p>
          <a:p>
            <a:pPr algn="just">
              <a:spcBef>
                <a:spcPts val="400"/>
              </a:spcBef>
              <a:spcAft>
                <a:spcPts val="200"/>
              </a:spcAft>
              <a:buNone/>
            </a:pP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[4] M. Huang, W. Yang, Y. Wu, J. Jiang, W. Chen and Q. Feng, “Brain tumor segmentation based on local independent projection-based classification,” IEEE Transactions on Biomedical Engineering, pp. 2633-2645, 2014. </a:t>
            </a:r>
            <a:endParaRPr lang="en-IN" sz="1800" dirty="0">
              <a:solidFill>
                <a:srgbClr val="002060"/>
              </a:solidFill>
              <a:effectLst/>
              <a:latin typeface="Times New Roman" panose="02020603050405020304" pitchFamily="18" charset="0"/>
              <a:ea typeface="Times New Roman" panose="02020603050405020304" pitchFamily="18" charset="0"/>
            </a:endParaRPr>
          </a:p>
          <a:p>
            <a:pPr algn="just">
              <a:spcBef>
                <a:spcPts val="400"/>
              </a:spcBef>
              <a:spcAft>
                <a:spcPts val="200"/>
              </a:spcAft>
              <a:buNone/>
            </a:pP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[5] </a:t>
            </a:r>
            <a:r>
              <a:rPr lang="en-US" sz="18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Hamamci</a:t>
            </a: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N. Kucuk, K. Karaman, K. Engin and G. Unal, “Tumor-cut: Segmentation of brain tumors on contrast enhanced MR images for radiosurgery applications,” IEEE Transactions on Medical Imaging, pp. 790-804, 2012. </a:t>
            </a:r>
            <a:endParaRPr lang="en-IN" sz="1800" dirty="0">
              <a:solidFill>
                <a:srgbClr val="002060"/>
              </a:solidFill>
              <a:effectLst/>
              <a:latin typeface="Times New Roman" panose="02020603050405020304" pitchFamily="18" charset="0"/>
              <a:ea typeface="Times New Roman" panose="02020603050405020304" pitchFamily="18" charset="0"/>
            </a:endParaRPr>
          </a:p>
          <a:p>
            <a:pPr algn="just">
              <a:spcBef>
                <a:spcPts val="400"/>
              </a:spcBef>
              <a:spcAft>
                <a:spcPts val="200"/>
              </a:spcAft>
              <a:buNone/>
            </a:pP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[6] H. B. Menze, A. Jakab, S. Bauer, K. Farahani and K. Justin, “The Multimodal Brain Tumor Image Segmentation Benchmark,” IEEE Transactions on Medical Imaging, pp. 1993-2024, 2014. Manav Sharma, </a:t>
            </a:r>
            <a:r>
              <a:rPr lang="en-US" sz="18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Pramanshu</a:t>
            </a:r>
            <a:r>
              <a:rPr lang="en-US" sz="1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Sharma, Ritik Mittal, Kamakshi Gupta Journal of Electronics and Informatics, December 2021, Volume 3, Issue 4 307</a:t>
            </a:r>
            <a:endParaRPr lang="en-IN" sz="1800" dirty="0">
              <a:solidFill>
                <a:srgbClr val="002060"/>
              </a:solidFill>
              <a:effectLst/>
              <a:latin typeface="Times New Roman" panose="02020603050405020304" pitchFamily="18" charset="0"/>
              <a:ea typeface="Times New Roman" panose="02020603050405020304" pitchFamily="18" charset="0"/>
            </a:endParaRPr>
          </a:p>
          <a:p>
            <a:pPr algn="just">
              <a:spcBef>
                <a:spcPts val="400"/>
              </a:spcBef>
              <a:spcAft>
                <a:spcPts val="2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4069600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AC2A47-24F7-0EB4-4CAF-D8CB1D4A1667}"/>
              </a:ext>
            </a:extLst>
          </p:cNvPr>
          <p:cNvSpPr txBox="1"/>
          <p:nvPr/>
        </p:nvSpPr>
        <p:spPr>
          <a:xfrm>
            <a:off x="4231184" y="2598003"/>
            <a:ext cx="5866127" cy="830997"/>
          </a:xfrm>
          <a:prstGeom prst="rect">
            <a:avLst/>
          </a:prstGeom>
          <a:noFill/>
        </p:spPr>
        <p:txBody>
          <a:bodyPr wrap="square" rtlCol="0">
            <a:spAutoFit/>
          </a:bodyPr>
          <a:lstStyle/>
          <a:p>
            <a:r>
              <a:rPr lang="en-US" sz="4800" b="1" dirty="0">
                <a:solidFill>
                  <a:srgbClr val="002060"/>
                </a:solidFill>
                <a:latin typeface="Times New Roman" panose="02020603050405020304" pitchFamily="18" charset="0"/>
                <a:cs typeface="Times New Roman" panose="02020603050405020304" pitchFamily="18" charset="0"/>
              </a:rPr>
              <a:t>THANK YOU</a:t>
            </a:r>
            <a:endParaRPr lang="en-IN" sz="4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689583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{16278433-05A5-443E-B756-DE91845D487E}tf10001105</Template>
  <TotalTime>1120</TotalTime>
  <Words>2790</Words>
  <Application>Microsoft Office PowerPoint</Application>
  <PresentationFormat>Widescreen</PresentationFormat>
  <Paragraphs>377</Paragraphs>
  <Slides>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Courier New</vt:lpstr>
      <vt:lpstr>Franklin Gothic Book</vt:lpstr>
      <vt:lpstr>Google Sans</vt:lpstr>
      <vt:lpstr>Nunito</vt:lpstr>
      <vt:lpstr>Sitka Text Semibold</vt:lpstr>
      <vt:lpstr>Symbol</vt:lpstr>
      <vt:lpstr>Times New Roman</vt:lpstr>
      <vt:lpstr>Wingdings</vt:lpstr>
      <vt:lpstr>Crop</vt:lpstr>
      <vt:lpstr>PowerPoint Presentation</vt:lpstr>
      <vt:lpstr>PowerPoint Presentation</vt:lpstr>
      <vt:lpstr>INTRODUCTION </vt:lpstr>
      <vt:lpstr>MOTIVATION  </vt:lpstr>
      <vt:lpstr>RECENT WORKS</vt:lpstr>
      <vt:lpstr>CHALLENGES </vt:lpstr>
      <vt:lpstr>PowerPoint Presentation</vt:lpstr>
      <vt:lpstr>PowerPoint Presentation</vt:lpstr>
      <vt:lpstr>PowerPoint Presentation</vt:lpstr>
      <vt:lpstr>PowerPoint Presentation</vt:lpstr>
      <vt:lpstr>PowerPoint Presentation</vt:lpstr>
      <vt:lpstr>CNN ARCHITECTURE:- </vt:lpstr>
      <vt:lpstr>PowerPoint Presentation</vt:lpstr>
      <vt:lpstr>VGG-16 ARCHITECTURE </vt:lpstr>
      <vt:lpstr>WORKING OF VGG-16 </vt:lpstr>
      <vt:lpstr>WORKFLOW </vt:lpstr>
      <vt:lpstr>DATASET</vt:lpstr>
      <vt:lpstr>DATA PREPROCESSING </vt:lpstr>
      <vt:lpstr>AFTER AUGMENTATION DATA</vt:lpstr>
      <vt:lpstr>NORMALIZATION</vt:lpstr>
      <vt:lpstr>APPLYING WAVELET</vt:lpstr>
      <vt:lpstr>INT FUNCTION </vt:lpstr>
      <vt:lpstr>PowerPoint Presentation</vt:lpstr>
      <vt:lpstr>PowerPoint Presentation</vt:lpstr>
      <vt:lpstr>PowerPoint Presentation</vt:lpstr>
      <vt:lpstr>PowerPoint Presentation</vt:lpstr>
      <vt:lpstr>PowerPoint Presentation</vt:lpstr>
      <vt:lpstr>ALL MODEL WITH WAVELETS  </vt:lpstr>
      <vt:lpstr> EXISTING MODELS FOR COMPARISON </vt:lpstr>
      <vt:lpstr>CONCLUSION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Amarjit Dash</dc:creator>
  <cp:lastModifiedBy>ANANDA KUMAR SAH00</cp:lastModifiedBy>
  <cp:revision>29</cp:revision>
  <dcterms:created xsi:type="dcterms:W3CDTF">2024-01-10T20:45:33Z</dcterms:created>
  <dcterms:modified xsi:type="dcterms:W3CDTF">2025-05-08T03:11:04Z</dcterms:modified>
</cp:coreProperties>
</file>